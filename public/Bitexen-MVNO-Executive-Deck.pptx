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731520" y="1280160"/>
            <a:ext cx="7315200" cy="8229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Bitexen</a:t>
            </a:r>
            <a:endParaRPr lang="en-US" sz="4800" dirty="0"/>
          </a:p>
        </p:txBody>
      </p:sp>
      <p:sp>
        <p:nvSpPr>
          <p:cNvPr id="3" name="Text 1"/>
          <p:cNvSpPr/>
          <p:nvPr/>
        </p:nvSpPr>
        <p:spPr>
          <a:xfrm>
            <a:off x="731520" y="2011680"/>
            <a:ext cx="7315200" cy="548640"/>
          </a:xfrm>
          <a:prstGeom prst="rect">
            <a:avLst/>
          </a:prstGeom>
          <a:noFill/>
          <a:ln/>
        </p:spPr>
        <p:txBody>
          <a:bodyPr wrap="square" lIns="0" tIns="0" rIns="0" bIns="0" rtlCol="0" anchor="ctr"/>
          <a:lstStyle/>
          <a:p>
            <a:pPr indent="0" marL="0">
              <a:buNone/>
            </a:pPr>
            <a:r>
              <a:rPr lang="en-US" sz="2800" dirty="0">
                <a:solidFill>
                  <a:srgbClr val="94A3B8"/>
                </a:solidFill>
                <a:latin typeface="Arial" pitchFamily="34" charset="0"/>
                <a:ea typeface="Arial" pitchFamily="34" charset="-122"/>
                <a:cs typeface="Arial" pitchFamily="34" charset="-120"/>
              </a:rPr>
              <a:t>Fintech MVNO Proposal</a:t>
            </a:r>
            <a:endParaRPr lang="en-US" sz="2800" dirty="0"/>
          </a:p>
        </p:txBody>
      </p:sp>
      <p:sp>
        <p:nvSpPr>
          <p:cNvPr id="4" name="Shape 2"/>
          <p:cNvSpPr/>
          <p:nvPr/>
        </p:nvSpPr>
        <p:spPr>
          <a:xfrm>
            <a:off x="731520" y="2834640"/>
            <a:ext cx="1828800" cy="0"/>
          </a:xfrm>
          <a:prstGeom prst="line">
            <a:avLst/>
          </a:prstGeom>
          <a:noFill/>
          <a:ln w="38100">
            <a:solidFill>
              <a:srgbClr val="0EA5E9"/>
            </a:solidFill>
            <a:prstDash val="solid"/>
          </a:ln>
        </p:spPr>
      </p:sp>
      <p:sp>
        <p:nvSpPr>
          <p:cNvPr id="5" name="Text 3"/>
          <p:cNvSpPr/>
          <p:nvPr/>
        </p:nvSpPr>
        <p:spPr>
          <a:xfrm>
            <a:off x="731520" y="3200400"/>
            <a:ext cx="5486400" cy="36576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Prepared by Digital Solutions Group / MVNE</a:t>
            </a:r>
            <a:endParaRPr lang="en-US" sz="1200" dirty="0"/>
          </a:p>
        </p:txBody>
      </p:sp>
      <p:sp>
        <p:nvSpPr>
          <p:cNvPr id="6" name="Text 4"/>
          <p:cNvSpPr/>
          <p:nvPr/>
        </p:nvSpPr>
        <p:spPr>
          <a:xfrm>
            <a:off x="731520" y="4389120"/>
            <a:ext cx="3657600" cy="274320"/>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lIns="0" tIns="0" rIns="0" bIns="0" rtlCol="0" anchor="ctr"/>
          <a:lstStyle/>
          <a:p>
            <a:pPr indent="0" marL="0">
              <a:buNone/>
            </a:pPr>
            <a:r>
              <a:rPr lang="en-US" sz="900" b="1" spc="400" kern="0" dirty="0">
                <a:solidFill>
                  <a:srgbClr val="94A3B8"/>
                </a:solidFill>
                <a:latin typeface="Arial" pitchFamily="34" charset="0"/>
                <a:ea typeface="Arial" pitchFamily="34" charset="-122"/>
                <a:cs typeface="Arial" pitchFamily="34" charset="-120"/>
              </a:rPr>
              <a:t>EXECUTIVE SUMMARY</a:t>
            </a:r>
            <a:endParaRPr lang="en-US" sz="900" dirty="0"/>
          </a:p>
        </p:txBody>
      </p:sp>
      <p:sp>
        <p:nvSpPr>
          <p:cNvPr id="3" name="Text 1"/>
          <p:cNvSpPr/>
          <p:nvPr/>
        </p:nvSpPr>
        <p:spPr>
          <a:xfrm>
            <a:off x="731520" y="822960"/>
            <a:ext cx="7680960" cy="9144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 fintech-led MVNO </a:t>
            </a:r>
            <a:pPr indent="0" marL="0">
              <a:buNone/>
            </a:pPr>
            <a:r>
              <a:rPr lang="en-US" sz="3200" b="1" dirty="0">
                <a:solidFill>
                  <a:srgbClr val="0EA5E9"/>
                </a:solidFill>
                <a:latin typeface="Arial" pitchFamily="34" charset="0"/>
                <a:ea typeface="Arial" pitchFamily="34" charset="-122"/>
                <a:cs typeface="Arial" pitchFamily="34" charset="-120"/>
              </a:rPr>
              <a:t>unlike anything in Africa.</a:t>
            </a:r>
            <a:endParaRPr lang="en-US" sz="3200" dirty="0"/>
          </a:p>
        </p:txBody>
      </p:sp>
      <p:sp>
        <p:nvSpPr>
          <p:cNvPr id="4" name="Text 2"/>
          <p:cNvSpPr/>
          <p:nvPr/>
        </p:nvSpPr>
        <p:spPr>
          <a:xfrm>
            <a:off x="731520" y="1828800"/>
            <a:ext cx="7680960" cy="1097280"/>
          </a:xfrm>
          <a:prstGeom prst="rect">
            <a:avLst/>
          </a:prstGeom>
          <a:noFill/>
          <a:ln/>
        </p:spPr>
        <p:txBody>
          <a:bodyPr wrap="square" lIns="0" tIns="0" rIns="0" bIns="0" rtlCol="0" anchor="ctr"/>
          <a:lstStyle/>
          <a:p>
            <a:pPr indent="0" marL="0">
              <a:lnSpc>
                <a:spcPct val="140000"/>
              </a:lnSpc>
              <a:buNone/>
            </a:pPr>
            <a:r>
              <a:rPr lang="en-US" sz="1300" dirty="0">
                <a:solidFill>
                  <a:srgbClr val="94A3B8"/>
                </a:solidFill>
                <a:latin typeface="Arial" pitchFamily="34" charset="0"/>
                <a:ea typeface="Arial" pitchFamily="34" charset="-122"/>
                <a:cs typeface="Arial" pitchFamily="34" charset="-120"/>
              </a:rPr>
              <a:t>Bitexen operates Turkey's leading cryptocurrency exchange — 2M+ active users, 350+ listed coins, and a proven fintech technology stack. This MVNO leverages crypto rewards, zero-rated trading, and digital wallet infrastructure to create a differentiated telecoms offering in South Africa.</a:t>
            </a:r>
            <a:endParaRPr lang="en-US" sz="1300" dirty="0"/>
          </a:p>
        </p:txBody>
      </p:sp>
      <p:sp>
        <p:nvSpPr>
          <p:cNvPr id="5" name="Shape 3"/>
          <p:cNvSpPr/>
          <p:nvPr/>
        </p:nvSpPr>
        <p:spPr>
          <a:xfrm>
            <a:off x="731520" y="3200400"/>
            <a:ext cx="1874520" cy="1188720"/>
          </a:xfrm>
          <a:prstGeom prst="rect">
            <a:avLst/>
          </a:prstGeom>
          <a:solidFill>
            <a:srgbClr val="1E293B"/>
          </a:solidFill>
          <a:ln/>
        </p:spPr>
      </p:sp>
      <p:sp>
        <p:nvSpPr>
          <p:cNvPr id="6" name="Text 4"/>
          <p:cNvSpPr/>
          <p:nvPr/>
        </p:nvSpPr>
        <p:spPr>
          <a:xfrm>
            <a:off x="731520" y="3291840"/>
            <a:ext cx="1874520" cy="548640"/>
          </a:xfrm>
          <a:prstGeom prst="rect">
            <a:avLst/>
          </a:prstGeom>
          <a:noFill/>
          <a:ln/>
        </p:spPr>
        <p:txBody>
          <a:bodyPr wrap="square" lIns="0" tIns="0" rIns="0" bIns="0" rtlCol="0" anchor="ctr"/>
          <a:lstStyle/>
          <a:p>
            <a:pPr algn="ctr" indent="0" marL="0">
              <a:buNone/>
            </a:pPr>
            <a:r>
              <a:rPr lang="en-US" sz="2800" dirty="0">
                <a:solidFill>
                  <a:srgbClr val="FFFFFF"/>
                </a:solidFill>
                <a:latin typeface="Arial Black" pitchFamily="34" charset="0"/>
                <a:ea typeface="Arial Black" pitchFamily="34" charset="-122"/>
                <a:cs typeface="Arial Black" pitchFamily="34" charset="-120"/>
              </a:rPr>
              <a:t>$505M</a:t>
            </a:r>
            <a:endParaRPr lang="en-US" sz="2800" dirty="0"/>
          </a:p>
        </p:txBody>
      </p:sp>
      <p:sp>
        <p:nvSpPr>
          <p:cNvPr id="7" name="Text 5"/>
          <p:cNvSpPr/>
          <p:nvPr/>
        </p:nvSpPr>
        <p:spPr>
          <a:xfrm>
            <a:off x="731520" y="3840480"/>
            <a:ext cx="1874520" cy="45720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SA MVNO market (2025)</a:t>
            </a:r>
            <a:endParaRPr lang="en-US" sz="900" dirty="0"/>
          </a:p>
        </p:txBody>
      </p:sp>
      <p:sp>
        <p:nvSpPr>
          <p:cNvPr id="8" name="Shape 6"/>
          <p:cNvSpPr/>
          <p:nvPr/>
        </p:nvSpPr>
        <p:spPr>
          <a:xfrm>
            <a:off x="2788920" y="3200400"/>
            <a:ext cx="1874520" cy="1188720"/>
          </a:xfrm>
          <a:prstGeom prst="rect">
            <a:avLst/>
          </a:prstGeom>
          <a:solidFill>
            <a:srgbClr val="1E293B"/>
          </a:solidFill>
          <a:ln/>
        </p:spPr>
      </p:sp>
      <p:sp>
        <p:nvSpPr>
          <p:cNvPr id="9" name="Text 7"/>
          <p:cNvSpPr/>
          <p:nvPr/>
        </p:nvSpPr>
        <p:spPr>
          <a:xfrm>
            <a:off x="2788920" y="3291840"/>
            <a:ext cx="1874520" cy="548640"/>
          </a:xfrm>
          <a:prstGeom prst="rect">
            <a:avLst/>
          </a:prstGeom>
          <a:noFill/>
          <a:ln/>
        </p:spPr>
        <p:txBody>
          <a:bodyPr wrap="square" lIns="0" tIns="0" rIns="0" bIns="0" rtlCol="0" anchor="ctr"/>
          <a:lstStyle/>
          <a:p>
            <a:pPr algn="ctr" indent="0" marL="0">
              <a:buNone/>
            </a:pPr>
            <a:r>
              <a:rPr lang="en-US" sz="2800" dirty="0">
                <a:solidFill>
                  <a:srgbClr val="FFFFFF"/>
                </a:solidFill>
                <a:latin typeface="Arial Black" pitchFamily="34" charset="0"/>
                <a:ea typeface="Arial Black" pitchFamily="34" charset="-122"/>
                <a:cs typeface="Arial Black" pitchFamily="34" charset="-120"/>
              </a:rPr>
              <a:t>$750M</a:t>
            </a:r>
            <a:endParaRPr lang="en-US" sz="2800" dirty="0"/>
          </a:p>
        </p:txBody>
      </p:sp>
      <p:sp>
        <p:nvSpPr>
          <p:cNvPr id="10" name="Text 8"/>
          <p:cNvSpPr/>
          <p:nvPr/>
        </p:nvSpPr>
        <p:spPr>
          <a:xfrm>
            <a:off x="2788920" y="3840480"/>
            <a:ext cx="1874520" cy="45720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Projected by 2030</a:t>
            </a:r>
            <a:endParaRPr lang="en-US" sz="900" dirty="0"/>
          </a:p>
        </p:txBody>
      </p:sp>
      <p:sp>
        <p:nvSpPr>
          <p:cNvPr id="11" name="Shape 9"/>
          <p:cNvSpPr/>
          <p:nvPr/>
        </p:nvSpPr>
        <p:spPr>
          <a:xfrm>
            <a:off x="4846320" y="3200400"/>
            <a:ext cx="1874520" cy="1188720"/>
          </a:xfrm>
          <a:prstGeom prst="rect">
            <a:avLst/>
          </a:prstGeom>
          <a:solidFill>
            <a:srgbClr val="1E293B"/>
          </a:solidFill>
          <a:ln/>
        </p:spPr>
      </p:sp>
      <p:sp>
        <p:nvSpPr>
          <p:cNvPr id="12" name="Text 10"/>
          <p:cNvSpPr/>
          <p:nvPr/>
        </p:nvSpPr>
        <p:spPr>
          <a:xfrm>
            <a:off x="4846320" y="3291840"/>
            <a:ext cx="1874520" cy="548640"/>
          </a:xfrm>
          <a:prstGeom prst="rect">
            <a:avLst/>
          </a:prstGeom>
          <a:noFill/>
          <a:ln/>
        </p:spPr>
        <p:txBody>
          <a:bodyPr wrap="square" lIns="0" tIns="0" rIns="0" bIns="0" rtlCol="0" anchor="ctr"/>
          <a:lstStyle/>
          <a:p>
            <a:pPr algn="ctr" indent="0" marL="0">
              <a:buNone/>
            </a:pPr>
            <a:r>
              <a:rPr lang="en-US" sz="2800" dirty="0">
                <a:solidFill>
                  <a:srgbClr val="FFFFFF"/>
                </a:solidFill>
                <a:latin typeface="Arial Black" pitchFamily="34" charset="0"/>
                <a:ea typeface="Arial Black" pitchFamily="34" charset="-122"/>
                <a:cs typeface="Arial Black" pitchFamily="34" charset="-120"/>
              </a:rPr>
              <a:t>4.3M</a:t>
            </a:r>
            <a:endParaRPr lang="en-US" sz="2800" dirty="0"/>
          </a:p>
        </p:txBody>
      </p:sp>
      <p:sp>
        <p:nvSpPr>
          <p:cNvPr id="13" name="Text 11"/>
          <p:cNvSpPr/>
          <p:nvPr/>
        </p:nvSpPr>
        <p:spPr>
          <a:xfrm>
            <a:off x="4846320" y="3840480"/>
            <a:ext cx="1874520" cy="45720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Active SIMs (+51% YoY)</a:t>
            </a:r>
            <a:endParaRPr lang="en-US" sz="900" dirty="0"/>
          </a:p>
        </p:txBody>
      </p:sp>
      <p:sp>
        <p:nvSpPr>
          <p:cNvPr id="14" name="Shape 12"/>
          <p:cNvSpPr/>
          <p:nvPr/>
        </p:nvSpPr>
        <p:spPr>
          <a:xfrm>
            <a:off x="6903720" y="3200400"/>
            <a:ext cx="1874520" cy="1188720"/>
          </a:xfrm>
          <a:prstGeom prst="rect">
            <a:avLst/>
          </a:prstGeom>
          <a:solidFill>
            <a:srgbClr val="1E293B"/>
          </a:solidFill>
          <a:ln/>
        </p:spPr>
      </p:sp>
      <p:sp>
        <p:nvSpPr>
          <p:cNvPr id="15" name="Text 13"/>
          <p:cNvSpPr/>
          <p:nvPr/>
        </p:nvSpPr>
        <p:spPr>
          <a:xfrm>
            <a:off x="6903720" y="3291840"/>
            <a:ext cx="1874520" cy="548640"/>
          </a:xfrm>
          <a:prstGeom prst="rect">
            <a:avLst/>
          </a:prstGeom>
          <a:noFill/>
          <a:ln/>
        </p:spPr>
        <p:txBody>
          <a:bodyPr wrap="square" lIns="0" tIns="0" rIns="0" bIns="0" rtlCol="0" anchor="ctr"/>
          <a:lstStyle/>
          <a:p>
            <a:pPr algn="ctr" indent="0" marL="0">
              <a:buNone/>
            </a:pPr>
            <a:r>
              <a:rPr lang="en-US" sz="2800" dirty="0">
                <a:solidFill>
                  <a:srgbClr val="FFFFFF"/>
                </a:solidFill>
                <a:latin typeface="Arial Black" pitchFamily="34" charset="0"/>
                <a:ea typeface="Arial Black" pitchFamily="34" charset="-122"/>
                <a:cs typeface="Arial Black" pitchFamily="34" charset="-120"/>
              </a:rPr>
              <a:t>2M+</a:t>
            </a:r>
            <a:endParaRPr lang="en-US" sz="2800" dirty="0"/>
          </a:p>
        </p:txBody>
      </p:sp>
      <p:sp>
        <p:nvSpPr>
          <p:cNvPr id="16" name="Text 14"/>
          <p:cNvSpPr/>
          <p:nvPr/>
        </p:nvSpPr>
        <p:spPr>
          <a:xfrm>
            <a:off x="6903720" y="3840480"/>
            <a:ext cx="1874520" cy="45720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Bitexen users globally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FINTECH ARSENAL</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What no competitor can replicate</a:t>
            </a:r>
            <a:endParaRPr lang="en-US" sz="2800" dirty="0"/>
          </a:p>
        </p:txBody>
      </p:sp>
      <p:sp>
        <p:nvSpPr>
          <p:cNvPr id="4" name="Shape 2"/>
          <p:cNvSpPr/>
          <p:nvPr/>
        </p:nvSpPr>
        <p:spPr>
          <a:xfrm>
            <a:off x="731520" y="1463040"/>
            <a:ext cx="2560320" cy="1325880"/>
          </a:xfrm>
          <a:prstGeom prst="rect">
            <a:avLst/>
          </a:prstGeom>
          <a:solidFill>
            <a:srgbClr val="F2F2F2"/>
          </a:solidFill>
          <a:ln/>
        </p:spPr>
      </p:sp>
      <p:sp>
        <p:nvSpPr>
          <p:cNvPr id="5" name="Text 3"/>
          <p:cNvSpPr/>
          <p:nvPr/>
        </p:nvSpPr>
        <p:spPr>
          <a:xfrm>
            <a:off x="868680" y="1554480"/>
            <a:ext cx="457200" cy="32004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01</a:t>
            </a:r>
            <a:endParaRPr lang="en-US" sz="1100" dirty="0"/>
          </a:p>
        </p:txBody>
      </p:sp>
      <p:sp>
        <p:nvSpPr>
          <p:cNvPr id="6" name="Text 4"/>
          <p:cNvSpPr/>
          <p:nvPr/>
        </p:nvSpPr>
        <p:spPr>
          <a:xfrm>
            <a:off x="868680" y="1874520"/>
            <a:ext cx="2286000" cy="320040"/>
          </a:xfrm>
          <a:prstGeom prst="rect">
            <a:avLst/>
          </a:prstGeom>
          <a:noFill/>
          <a:ln/>
        </p:spPr>
        <p:txBody>
          <a:bodyPr wrap="square" lIns="0" tIns="0" rIns="0" bIns="0" rtlCol="0" anchor="ctr"/>
          <a:lstStyle/>
          <a:p>
            <a:pPr indent="0" marL="0">
              <a:buNone/>
            </a:pPr>
            <a:r>
              <a:rPr lang="en-US" sz="1300" b="1" dirty="0">
                <a:solidFill>
                  <a:srgbClr val="0A0E1A"/>
                </a:solidFill>
                <a:latin typeface="Arial" pitchFamily="34" charset="0"/>
                <a:ea typeface="Arial" pitchFamily="34" charset="-122"/>
                <a:cs typeface="Arial" pitchFamily="34" charset="-120"/>
              </a:rPr>
              <a:t>Crypto Exchange</a:t>
            </a:r>
            <a:endParaRPr lang="en-US" sz="1300" dirty="0"/>
          </a:p>
        </p:txBody>
      </p:sp>
      <p:sp>
        <p:nvSpPr>
          <p:cNvPr id="7" name="Text 5"/>
          <p:cNvSpPr/>
          <p:nvPr/>
        </p:nvSpPr>
        <p:spPr>
          <a:xfrm>
            <a:off x="868680" y="219456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350+ coins, 45K+ pairs, 2M+ users</a:t>
            </a:r>
            <a:endParaRPr lang="en-US" sz="1000" dirty="0"/>
          </a:p>
        </p:txBody>
      </p:sp>
      <p:sp>
        <p:nvSpPr>
          <p:cNvPr id="8" name="Shape 6"/>
          <p:cNvSpPr/>
          <p:nvPr/>
        </p:nvSpPr>
        <p:spPr>
          <a:xfrm>
            <a:off x="3474720" y="1463040"/>
            <a:ext cx="2560320" cy="1325880"/>
          </a:xfrm>
          <a:prstGeom prst="rect">
            <a:avLst/>
          </a:prstGeom>
          <a:solidFill>
            <a:srgbClr val="F2F2F2"/>
          </a:solidFill>
          <a:ln/>
        </p:spPr>
      </p:sp>
      <p:sp>
        <p:nvSpPr>
          <p:cNvPr id="9" name="Text 7"/>
          <p:cNvSpPr/>
          <p:nvPr/>
        </p:nvSpPr>
        <p:spPr>
          <a:xfrm>
            <a:off x="3611880" y="1554480"/>
            <a:ext cx="457200" cy="32004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02</a:t>
            </a:r>
            <a:endParaRPr lang="en-US" sz="1100" dirty="0"/>
          </a:p>
        </p:txBody>
      </p:sp>
      <p:sp>
        <p:nvSpPr>
          <p:cNvPr id="10" name="Text 8"/>
          <p:cNvSpPr/>
          <p:nvPr/>
        </p:nvSpPr>
        <p:spPr>
          <a:xfrm>
            <a:off x="3611880" y="1874520"/>
            <a:ext cx="2286000" cy="320040"/>
          </a:xfrm>
          <a:prstGeom prst="rect">
            <a:avLst/>
          </a:prstGeom>
          <a:noFill/>
          <a:ln/>
        </p:spPr>
        <p:txBody>
          <a:bodyPr wrap="square" lIns="0" tIns="0" rIns="0" bIns="0" rtlCol="0" anchor="ctr"/>
          <a:lstStyle/>
          <a:p>
            <a:pPr indent="0" marL="0">
              <a:buNone/>
            </a:pPr>
            <a:r>
              <a:rPr lang="en-US" sz="1300" b="1" dirty="0">
                <a:solidFill>
                  <a:srgbClr val="0A0E1A"/>
                </a:solidFill>
                <a:latin typeface="Arial" pitchFamily="34" charset="0"/>
                <a:ea typeface="Arial" pitchFamily="34" charset="-122"/>
                <a:cs typeface="Arial" pitchFamily="34" charset="-120"/>
              </a:rPr>
              <a:t>Digital Wallet</a:t>
            </a:r>
            <a:endParaRPr lang="en-US" sz="1300" dirty="0"/>
          </a:p>
        </p:txBody>
      </p:sp>
      <p:sp>
        <p:nvSpPr>
          <p:cNvPr id="11" name="Text 9"/>
          <p:cNvSpPr/>
          <p:nvPr/>
        </p:nvSpPr>
        <p:spPr>
          <a:xfrm>
            <a:off x="3611880" y="219456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Multi-currency, fiat on/off ramp</a:t>
            </a:r>
            <a:endParaRPr lang="en-US" sz="1000" dirty="0"/>
          </a:p>
        </p:txBody>
      </p:sp>
      <p:sp>
        <p:nvSpPr>
          <p:cNvPr id="12" name="Shape 10"/>
          <p:cNvSpPr/>
          <p:nvPr/>
        </p:nvSpPr>
        <p:spPr>
          <a:xfrm>
            <a:off x="6217920" y="1463040"/>
            <a:ext cx="2560320" cy="1325880"/>
          </a:xfrm>
          <a:prstGeom prst="rect">
            <a:avLst/>
          </a:prstGeom>
          <a:solidFill>
            <a:srgbClr val="F2F2F2"/>
          </a:solidFill>
          <a:ln/>
        </p:spPr>
      </p:sp>
      <p:sp>
        <p:nvSpPr>
          <p:cNvPr id="13" name="Text 11"/>
          <p:cNvSpPr/>
          <p:nvPr/>
        </p:nvSpPr>
        <p:spPr>
          <a:xfrm>
            <a:off x="6355080" y="1554480"/>
            <a:ext cx="457200" cy="32004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03</a:t>
            </a:r>
            <a:endParaRPr lang="en-US" sz="1100" dirty="0"/>
          </a:p>
        </p:txBody>
      </p:sp>
      <p:sp>
        <p:nvSpPr>
          <p:cNvPr id="14" name="Text 12"/>
          <p:cNvSpPr/>
          <p:nvPr/>
        </p:nvSpPr>
        <p:spPr>
          <a:xfrm>
            <a:off x="6355080" y="1874520"/>
            <a:ext cx="2286000" cy="320040"/>
          </a:xfrm>
          <a:prstGeom prst="rect">
            <a:avLst/>
          </a:prstGeom>
          <a:noFill/>
          <a:ln/>
        </p:spPr>
        <p:txBody>
          <a:bodyPr wrap="square" lIns="0" tIns="0" rIns="0" bIns="0" rtlCol="0" anchor="ctr"/>
          <a:lstStyle/>
          <a:p>
            <a:pPr indent="0" marL="0">
              <a:buNone/>
            </a:pPr>
            <a:r>
              <a:rPr lang="en-US" sz="1300" b="1" dirty="0">
                <a:solidFill>
                  <a:srgbClr val="0A0E1A"/>
                </a:solidFill>
                <a:latin typeface="Arial" pitchFamily="34" charset="0"/>
                <a:ea typeface="Arial" pitchFamily="34" charset="-122"/>
                <a:cs typeface="Arial" pitchFamily="34" charset="-120"/>
              </a:rPr>
              <a:t>Research &amp; Insights</a:t>
            </a:r>
            <a:endParaRPr lang="en-US" sz="1300" dirty="0"/>
          </a:p>
        </p:txBody>
      </p:sp>
      <p:sp>
        <p:nvSpPr>
          <p:cNvPr id="15" name="Text 13"/>
          <p:cNvSpPr/>
          <p:nvPr/>
        </p:nvSpPr>
        <p:spPr>
          <a:xfrm>
            <a:off x="6355080" y="219456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Daily market analysis &amp; education</a:t>
            </a:r>
            <a:endParaRPr lang="en-US" sz="1000" dirty="0"/>
          </a:p>
        </p:txBody>
      </p:sp>
      <p:sp>
        <p:nvSpPr>
          <p:cNvPr id="16" name="Shape 14"/>
          <p:cNvSpPr/>
          <p:nvPr/>
        </p:nvSpPr>
        <p:spPr>
          <a:xfrm>
            <a:off x="731520" y="3017520"/>
            <a:ext cx="2560320" cy="1325880"/>
          </a:xfrm>
          <a:prstGeom prst="rect">
            <a:avLst/>
          </a:prstGeom>
          <a:solidFill>
            <a:srgbClr val="F2F2F2"/>
          </a:solidFill>
          <a:ln/>
        </p:spPr>
      </p:sp>
      <p:sp>
        <p:nvSpPr>
          <p:cNvPr id="17" name="Text 15"/>
          <p:cNvSpPr/>
          <p:nvPr/>
        </p:nvSpPr>
        <p:spPr>
          <a:xfrm>
            <a:off x="868680" y="3108960"/>
            <a:ext cx="457200" cy="32004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04</a:t>
            </a:r>
            <a:endParaRPr lang="en-US" sz="1100" dirty="0"/>
          </a:p>
        </p:txBody>
      </p:sp>
      <p:sp>
        <p:nvSpPr>
          <p:cNvPr id="18" name="Text 16"/>
          <p:cNvSpPr/>
          <p:nvPr/>
        </p:nvSpPr>
        <p:spPr>
          <a:xfrm>
            <a:off x="868680" y="3429000"/>
            <a:ext cx="2286000" cy="320040"/>
          </a:xfrm>
          <a:prstGeom prst="rect">
            <a:avLst/>
          </a:prstGeom>
          <a:noFill/>
          <a:ln/>
        </p:spPr>
        <p:txBody>
          <a:bodyPr wrap="square" lIns="0" tIns="0" rIns="0" bIns="0" rtlCol="0" anchor="ctr"/>
          <a:lstStyle/>
          <a:p>
            <a:pPr indent="0" marL="0">
              <a:buNone/>
            </a:pPr>
            <a:r>
              <a:rPr lang="en-US" sz="1300" b="1" dirty="0">
                <a:solidFill>
                  <a:srgbClr val="0A0E1A"/>
                </a:solidFill>
                <a:latin typeface="Arial" pitchFamily="34" charset="0"/>
                <a:ea typeface="Arial" pitchFamily="34" charset="-122"/>
                <a:cs typeface="Arial" pitchFamily="34" charset="-120"/>
              </a:rPr>
              <a:t>Technology Platform</a:t>
            </a:r>
            <a:endParaRPr lang="en-US" sz="1300" dirty="0"/>
          </a:p>
        </p:txBody>
      </p:sp>
      <p:sp>
        <p:nvSpPr>
          <p:cNvPr id="19" name="Text 17"/>
          <p:cNvSpPr/>
          <p:nvPr/>
        </p:nvSpPr>
        <p:spPr>
          <a:xfrm>
            <a:off x="868680" y="374904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Enterprise-grade, proven at scale</a:t>
            </a:r>
            <a:endParaRPr lang="en-US" sz="1000" dirty="0"/>
          </a:p>
        </p:txBody>
      </p:sp>
      <p:sp>
        <p:nvSpPr>
          <p:cNvPr id="20" name="Shape 18"/>
          <p:cNvSpPr/>
          <p:nvPr/>
        </p:nvSpPr>
        <p:spPr>
          <a:xfrm>
            <a:off x="3474720" y="3017520"/>
            <a:ext cx="2560320" cy="1325880"/>
          </a:xfrm>
          <a:prstGeom prst="rect">
            <a:avLst/>
          </a:prstGeom>
          <a:solidFill>
            <a:srgbClr val="F2F2F2"/>
          </a:solidFill>
          <a:ln/>
        </p:spPr>
      </p:sp>
      <p:sp>
        <p:nvSpPr>
          <p:cNvPr id="21" name="Text 19"/>
          <p:cNvSpPr/>
          <p:nvPr/>
        </p:nvSpPr>
        <p:spPr>
          <a:xfrm>
            <a:off x="3611880" y="3108960"/>
            <a:ext cx="457200" cy="32004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05</a:t>
            </a:r>
            <a:endParaRPr lang="en-US" sz="1100" dirty="0"/>
          </a:p>
        </p:txBody>
      </p:sp>
      <p:sp>
        <p:nvSpPr>
          <p:cNvPr id="22" name="Text 20"/>
          <p:cNvSpPr/>
          <p:nvPr/>
        </p:nvSpPr>
        <p:spPr>
          <a:xfrm>
            <a:off x="3611880" y="3429000"/>
            <a:ext cx="2286000" cy="320040"/>
          </a:xfrm>
          <a:prstGeom prst="rect">
            <a:avLst/>
          </a:prstGeom>
          <a:noFill/>
          <a:ln/>
        </p:spPr>
        <p:txBody>
          <a:bodyPr wrap="square" lIns="0" tIns="0" rIns="0" bIns="0" rtlCol="0" anchor="ctr"/>
          <a:lstStyle/>
          <a:p>
            <a:pPr indent="0" marL="0">
              <a:buNone/>
            </a:pPr>
            <a:r>
              <a:rPr lang="en-US" sz="1300" b="1" dirty="0">
                <a:solidFill>
                  <a:srgbClr val="0A0E1A"/>
                </a:solidFill>
                <a:latin typeface="Arial" pitchFamily="34" charset="0"/>
                <a:ea typeface="Arial" pitchFamily="34" charset="-122"/>
                <a:cs typeface="Arial" pitchFamily="34" charset="-120"/>
              </a:rPr>
              <a:t>Regulatory &amp; AML</a:t>
            </a:r>
            <a:endParaRPr lang="en-US" sz="1300" dirty="0"/>
          </a:p>
        </p:txBody>
      </p:sp>
      <p:sp>
        <p:nvSpPr>
          <p:cNvPr id="23" name="Text 21"/>
          <p:cNvSpPr/>
          <p:nvPr/>
        </p:nvSpPr>
        <p:spPr>
          <a:xfrm>
            <a:off x="3611880" y="374904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FATF-compliant, Coinfirm partnership</a:t>
            </a:r>
            <a:endParaRPr lang="en-US" sz="1000" dirty="0"/>
          </a:p>
        </p:txBody>
      </p:sp>
      <p:sp>
        <p:nvSpPr>
          <p:cNvPr id="24" name="Shape 22"/>
          <p:cNvSpPr/>
          <p:nvPr/>
        </p:nvSpPr>
        <p:spPr>
          <a:xfrm>
            <a:off x="6217920" y="3017520"/>
            <a:ext cx="2560320" cy="1325880"/>
          </a:xfrm>
          <a:prstGeom prst="rect">
            <a:avLst/>
          </a:prstGeom>
          <a:solidFill>
            <a:srgbClr val="F2F2F2"/>
          </a:solidFill>
          <a:ln/>
        </p:spPr>
      </p:sp>
      <p:sp>
        <p:nvSpPr>
          <p:cNvPr id="25" name="Text 23"/>
          <p:cNvSpPr/>
          <p:nvPr/>
        </p:nvSpPr>
        <p:spPr>
          <a:xfrm>
            <a:off x="6355080" y="3108960"/>
            <a:ext cx="457200" cy="32004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06</a:t>
            </a:r>
            <a:endParaRPr lang="en-US" sz="1100" dirty="0"/>
          </a:p>
        </p:txBody>
      </p:sp>
      <p:sp>
        <p:nvSpPr>
          <p:cNvPr id="26" name="Text 24"/>
          <p:cNvSpPr/>
          <p:nvPr/>
        </p:nvSpPr>
        <p:spPr>
          <a:xfrm>
            <a:off x="6355080" y="3429000"/>
            <a:ext cx="2286000" cy="320040"/>
          </a:xfrm>
          <a:prstGeom prst="rect">
            <a:avLst/>
          </a:prstGeom>
          <a:noFill/>
          <a:ln/>
        </p:spPr>
        <p:txBody>
          <a:bodyPr wrap="square" lIns="0" tIns="0" rIns="0" bIns="0" rtlCol="0" anchor="ctr"/>
          <a:lstStyle/>
          <a:p>
            <a:pPr indent="0" marL="0">
              <a:buNone/>
            </a:pPr>
            <a:r>
              <a:rPr lang="en-US" sz="1300" b="1" dirty="0">
                <a:solidFill>
                  <a:srgbClr val="0A0E1A"/>
                </a:solidFill>
                <a:latin typeface="Arial" pitchFamily="34" charset="0"/>
                <a:ea typeface="Arial" pitchFamily="34" charset="-122"/>
                <a:cs typeface="Arial" pitchFamily="34" charset="-120"/>
              </a:rPr>
              <a:t>BTXN Token</a:t>
            </a:r>
            <a:endParaRPr lang="en-US" sz="1300" dirty="0"/>
          </a:p>
        </p:txBody>
      </p:sp>
      <p:sp>
        <p:nvSpPr>
          <p:cNvPr id="27" name="Text 25"/>
          <p:cNvSpPr/>
          <p:nvPr/>
        </p:nvSpPr>
        <p:spPr>
          <a:xfrm>
            <a:off x="6355080" y="374904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Loyalty rewards, fee discounts, airdrops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MOBILE-LED BUNDLES</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Four tiers. Crypto rewards on every one.</a:t>
            </a:r>
            <a:endParaRPr lang="en-US" sz="2800" dirty="0"/>
          </a:p>
        </p:txBody>
      </p:sp>
      <p:sp>
        <p:nvSpPr>
          <p:cNvPr id="4" name="Shape 2"/>
          <p:cNvSpPr/>
          <p:nvPr/>
        </p:nvSpPr>
        <p:spPr>
          <a:xfrm>
            <a:off x="731520" y="1371600"/>
            <a:ext cx="1874520" cy="3200400"/>
          </a:xfrm>
          <a:prstGeom prst="rect">
            <a:avLst/>
          </a:prstGeom>
          <a:solidFill>
            <a:srgbClr val="F2F2F2"/>
          </a:solidFill>
          <a:ln/>
        </p:spPr>
      </p:sp>
      <p:sp>
        <p:nvSpPr>
          <p:cNvPr id="5" name="Text 3"/>
          <p:cNvSpPr/>
          <p:nvPr/>
        </p:nvSpPr>
        <p:spPr>
          <a:xfrm>
            <a:off x="731520" y="1554480"/>
            <a:ext cx="1874520" cy="365760"/>
          </a:xfrm>
          <a:prstGeom prst="rect">
            <a:avLst/>
          </a:prstGeom>
          <a:noFill/>
          <a:ln/>
        </p:spPr>
        <p:txBody>
          <a:bodyPr wrap="square" lIns="0" tIns="0" rIns="0" bIns="0" rtlCol="0" anchor="ctr"/>
          <a:lstStyle/>
          <a:p>
            <a:pPr algn="ctr" indent="0" marL="0">
              <a:buNone/>
            </a:pPr>
            <a:r>
              <a:rPr lang="en-US" sz="1400" b="1" dirty="0">
                <a:solidFill>
                  <a:srgbClr val="0A0E1A"/>
                </a:solidFill>
                <a:latin typeface="Arial" pitchFamily="34" charset="0"/>
                <a:ea typeface="Arial" pitchFamily="34" charset="-122"/>
                <a:cs typeface="Arial" pitchFamily="34" charset="-120"/>
              </a:rPr>
              <a:t>Starter</a:t>
            </a:r>
            <a:endParaRPr lang="en-US" sz="1400" dirty="0"/>
          </a:p>
        </p:txBody>
      </p:sp>
      <p:sp>
        <p:nvSpPr>
          <p:cNvPr id="6" name="Text 4"/>
          <p:cNvSpPr/>
          <p:nvPr/>
        </p:nvSpPr>
        <p:spPr>
          <a:xfrm>
            <a:off x="731520" y="1920240"/>
            <a:ext cx="1874520" cy="457200"/>
          </a:xfrm>
          <a:prstGeom prst="rect">
            <a:avLst/>
          </a:prstGeom>
          <a:noFill/>
          <a:ln/>
        </p:spPr>
        <p:txBody>
          <a:bodyPr wrap="square" lIns="0" tIns="0" rIns="0" bIns="0" rtlCol="0" anchor="ctr"/>
          <a:lstStyle/>
          <a:p>
            <a:pPr algn="ctr" indent="0" marL="0">
              <a:buNone/>
            </a:pPr>
            <a:r>
              <a:rPr lang="en-US" sz="2400" dirty="0">
                <a:solidFill>
                  <a:srgbClr val="0EA5E9"/>
                </a:solidFill>
                <a:latin typeface="Arial Black" pitchFamily="34" charset="0"/>
                <a:ea typeface="Arial Black" pitchFamily="34" charset="-122"/>
                <a:cs typeface="Arial Black" pitchFamily="34" charset="-120"/>
              </a:rPr>
              <a:t>R79/mo</a:t>
            </a:r>
            <a:endParaRPr lang="en-US" sz="2400" dirty="0"/>
          </a:p>
        </p:txBody>
      </p:sp>
      <p:sp>
        <p:nvSpPr>
          <p:cNvPr id="7" name="Text 5"/>
          <p:cNvSpPr/>
          <p:nvPr/>
        </p:nvSpPr>
        <p:spPr>
          <a:xfrm>
            <a:off x="731520" y="2468880"/>
            <a:ext cx="187452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1.5 GB · 10 min · 20 SMS</a:t>
            </a:r>
            <a:endParaRPr lang="en-US" sz="1000" dirty="0"/>
          </a:p>
        </p:txBody>
      </p:sp>
      <p:sp>
        <p:nvSpPr>
          <p:cNvPr id="8" name="Text 6"/>
          <p:cNvSpPr/>
          <p:nvPr/>
        </p:nvSpPr>
        <p:spPr>
          <a:xfrm>
            <a:off x="731520" y="2926080"/>
            <a:ext cx="1874520" cy="320040"/>
          </a:xfrm>
          <a:prstGeom prst="rect">
            <a:avLst/>
          </a:prstGeom>
          <a:noFill/>
          <a:ln/>
        </p:spPr>
        <p:txBody>
          <a:bodyPr wrap="square" lIns="0" tIns="0" rIns="0" bIns="0"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27.3% GP</a:t>
            </a:r>
            <a:endParaRPr lang="en-US" sz="1100" dirty="0"/>
          </a:p>
        </p:txBody>
      </p:sp>
      <p:sp>
        <p:nvSpPr>
          <p:cNvPr id="9" name="Text 7"/>
          <p:cNvSpPr/>
          <p:nvPr/>
        </p:nvSpPr>
        <p:spPr>
          <a:xfrm>
            <a:off x="822960" y="333756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Zero-rated Bitexen app</a:t>
            </a:r>
            <a:endParaRPr lang="en-US" sz="850" dirty="0"/>
          </a:p>
        </p:txBody>
      </p:sp>
      <p:sp>
        <p:nvSpPr>
          <p:cNvPr id="10" name="Text 8"/>
          <p:cNvSpPr/>
          <p:nvPr/>
        </p:nvSpPr>
        <p:spPr>
          <a:xfrm>
            <a:off x="822960" y="361188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Trading reward data</a:t>
            </a:r>
            <a:endParaRPr lang="en-US" sz="850" dirty="0"/>
          </a:p>
        </p:txBody>
      </p:sp>
      <p:sp>
        <p:nvSpPr>
          <p:cNvPr id="11" name="Text 9"/>
          <p:cNvSpPr/>
          <p:nvPr/>
        </p:nvSpPr>
        <p:spPr>
          <a:xfrm>
            <a:off x="822960" y="388620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Portfolio tracker</a:t>
            </a:r>
            <a:endParaRPr lang="en-US" sz="850" dirty="0"/>
          </a:p>
        </p:txBody>
      </p:sp>
      <p:sp>
        <p:nvSpPr>
          <p:cNvPr id="12" name="Text 10"/>
          <p:cNvSpPr/>
          <p:nvPr/>
        </p:nvSpPr>
        <p:spPr>
          <a:xfrm>
            <a:off x="822960" y="416052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BTXN ecosystem</a:t>
            </a:r>
            <a:endParaRPr lang="en-US" sz="850" dirty="0"/>
          </a:p>
        </p:txBody>
      </p:sp>
      <p:sp>
        <p:nvSpPr>
          <p:cNvPr id="13" name="Shape 11"/>
          <p:cNvSpPr/>
          <p:nvPr/>
        </p:nvSpPr>
        <p:spPr>
          <a:xfrm>
            <a:off x="2788920" y="1371600"/>
            <a:ext cx="1874520" cy="3200400"/>
          </a:xfrm>
          <a:prstGeom prst="rect">
            <a:avLst/>
          </a:prstGeom>
          <a:solidFill>
            <a:srgbClr val="0A0E1A"/>
          </a:solidFill>
          <a:ln/>
        </p:spPr>
      </p:sp>
      <p:sp>
        <p:nvSpPr>
          <p:cNvPr id="14" name="Text 12"/>
          <p:cNvSpPr/>
          <p:nvPr/>
        </p:nvSpPr>
        <p:spPr>
          <a:xfrm>
            <a:off x="2788920" y="1554480"/>
            <a:ext cx="18745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Trader</a:t>
            </a:r>
            <a:endParaRPr lang="en-US" sz="1400" dirty="0"/>
          </a:p>
        </p:txBody>
      </p:sp>
      <p:sp>
        <p:nvSpPr>
          <p:cNvPr id="15" name="Text 13"/>
          <p:cNvSpPr/>
          <p:nvPr/>
        </p:nvSpPr>
        <p:spPr>
          <a:xfrm>
            <a:off x="2788920" y="1920240"/>
            <a:ext cx="1874520" cy="457200"/>
          </a:xfrm>
          <a:prstGeom prst="rect">
            <a:avLst/>
          </a:prstGeom>
          <a:noFill/>
          <a:ln/>
        </p:spPr>
        <p:txBody>
          <a:bodyPr wrap="square" lIns="0" tIns="0" rIns="0" bIns="0" rtlCol="0" anchor="ctr"/>
          <a:lstStyle/>
          <a:p>
            <a:pPr algn="ctr" indent="0" marL="0">
              <a:buNone/>
            </a:pPr>
            <a:r>
              <a:rPr lang="en-US" sz="2400" dirty="0">
                <a:solidFill>
                  <a:srgbClr val="0EA5E9"/>
                </a:solidFill>
                <a:latin typeface="Arial Black" pitchFamily="34" charset="0"/>
                <a:ea typeface="Arial Black" pitchFamily="34" charset="-122"/>
                <a:cs typeface="Arial Black" pitchFamily="34" charset="-120"/>
              </a:rPr>
              <a:t>R149/mo</a:t>
            </a:r>
            <a:endParaRPr lang="en-US" sz="2400" dirty="0"/>
          </a:p>
        </p:txBody>
      </p:sp>
      <p:sp>
        <p:nvSpPr>
          <p:cNvPr id="16" name="Text 14"/>
          <p:cNvSpPr/>
          <p:nvPr/>
        </p:nvSpPr>
        <p:spPr>
          <a:xfrm>
            <a:off x="2788920" y="2468880"/>
            <a:ext cx="187452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3 GB · 25 min · 50 SMS</a:t>
            </a:r>
            <a:endParaRPr lang="en-US" sz="1000" dirty="0"/>
          </a:p>
        </p:txBody>
      </p:sp>
      <p:sp>
        <p:nvSpPr>
          <p:cNvPr id="17" name="Text 15"/>
          <p:cNvSpPr/>
          <p:nvPr/>
        </p:nvSpPr>
        <p:spPr>
          <a:xfrm>
            <a:off x="2788920" y="2926080"/>
            <a:ext cx="1874520" cy="32004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20.9% GP</a:t>
            </a:r>
            <a:endParaRPr lang="en-US" sz="1100" dirty="0"/>
          </a:p>
        </p:txBody>
      </p:sp>
      <p:sp>
        <p:nvSpPr>
          <p:cNvPr id="18" name="Text 16"/>
          <p:cNvSpPr/>
          <p:nvPr/>
        </p:nvSpPr>
        <p:spPr>
          <a:xfrm>
            <a:off x="2880360" y="3337560"/>
            <a:ext cx="1691640" cy="256032"/>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  Zero-rated Bitexen app</a:t>
            </a:r>
            <a:endParaRPr lang="en-US" sz="850" dirty="0"/>
          </a:p>
        </p:txBody>
      </p:sp>
      <p:sp>
        <p:nvSpPr>
          <p:cNvPr id="19" name="Text 17"/>
          <p:cNvSpPr/>
          <p:nvPr/>
        </p:nvSpPr>
        <p:spPr>
          <a:xfrm>
            <a:off x="2880360" y="3611880"/>
            <a:ext cx="1691640" cy="256032"/>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  Trading reward data</a:t>
            </a:r>
            <a:endParaRPr lang="en-US" sz="850" dirty="0"/>
          </a:p>
        </p:txBody>
      </p:sp>
      <p:sp>
        <p:nvSpPr>
          <p:cNvPr id="20" name="Text 18"/>
          <p:cNvSpPr/>
          <p:nvPr/>
        </p:nvSpPr>
        <p:spPr>
          <a:xfrm>
            <a:off x="2880360" y="3886200"/>
            <a:ext cx="1691640" cy="256032"/>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  Trading fee discount</a:t>
            </a:r>
            <a:endParaRPr lang="en-US" sz="850" dirty="0"/>
          </a:p>
        </p:txBody>
      </p:sp>
      <p:sp>
        <p:nvSpPr>
          <p:cNvPr id="21" name="Text 19"/>
          <p:cNvSpPr/>
          <p:nvPr/>
        </p:nvSpPr>
        <p:spPr>
          <a:xfrm>
            <a:off x="2880360" y="4160520"/>
            <a:ext cx="1691640" cy="256032"/>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  BTXN ecosystem</a:t>
            </a:r>
            <a:endParaRPr lang="en-US" sz="850" dirty="0"/>
          </a:p>
        </p:txBody>
      </p:sp>
      <p:sp>
        <p:nvSpPr>
          <p:cNvPr id="22" name="Shape 20"/>
          <p:cNvSpPr/>
          <p:nvPr/>
        </p:nvSpPr>
        <p:spPr>
          <a:xfrm>
            <a:off x="4846320" y="1371600"/>
            <a:ext cx="1874520" cy="3200400"/>
          </a:xfrm>
          <a:prstGeom prst="rect">
            <a:avLst/>
          </a:prstGeom>
          <a:solidFill>
            <a:srgbClr val="F2F2F2"/>
          </a:solidFill>
          <a:ln/>
        </p:spPr>
      </p:sp>
      <p:sp>
        <p:nvSpPr>
          <p:cNvPr id="23" name="Text 21"/>
          <p:cNvSpPr/>
          <p:nvPr/>
        </p:nvSpPr>
        <p:spPr>
          <a:xfrm>
            <a:off x="4846320" y="1554480"/>
            <a:ext cx="1874520" cy="365760"/>
          </a:xfrm>
          <a:prstGeom prst="rect">
            <a:avLst/>
          </a:prstGeom>
          <a:noFill/>
          <a:ln/>
        </p:spPr>
        <p:txBody>
          <a:bodyPr wrap="square" lIns="0" tIns="0" rIns="0" bIns="0" rtlCol="0" anchor="ctr"/>
          <a:lstStyle/>
          <a:p>
            <a:pPr algn="ctr" indent="0" marL="0">
              <a:buNone/>
            </a:pPr>
            <a:r>
              <a:rPr lang="en-US" sz="1400" b="1" dirty="0">
                <a:solidFill>
                  <a:srgbClr val="0A0E1A"/>
                </a:solidFill>
                <a:latin typeface="Arial" pitchFamily="34" charset="0"/>
                <a:ea typeface="Arial" pitchFamily="34" charset="-122"/>
                <a:cs typeface="Arial" pitchFamily="34" charset="-120"/>
              </a:rPr>
              <a:t>Pro</a:t>
            </a:r>
            <a:endParaRPr lang="en-US" sz="1400" dirty="0"/>
          </a:p>
        </p:txBody>
      </p:sp>
      <p:sp>
        <p:nvSpPr>
          <p:cNvPr id="24" name="Text 22"/>
          <p:cNvSpPr/>
          <p:nvPr/>
        </p:nvSpPr>
        <p:spPr>
          <a:xfrm>
            <a:off x="4846320" y="1920240"/>
            <a:ext cx="1874520" cy="457200"/>
          </a:xfrm>
          <a:prstGeom prst="rect">
            <a:avLst/>
          </a:prstGeom>
          <a:noFill/>
          <a:ln/>
        </p:spPr>
        <p:txBody>
          <a:bodyPr wrap="square" lIns="0" tIns="0" rIns="0" bIns="0" rtlCol="0" anchor="ctr"/>
          <a:lstStyle/>
          <a:p>
            <a:pPr algn="ctr" indent="0" marL="0">
              <a:buNone/>
            </a:pPr>
            <a:r>
              <a:rPr lang="en-US" sz="2400" dirty="0">
                <a:solidFill>
                  <a:srgbClr val="0EA5E9"/>
                </a:solidFill>
                <a:latin typeface="Arial Black" pitchFamily="34" charset="0"/>
                <a:ea typeface="Arial Black" pitchFamily="34" charset="-122"/>
                <a:cs typeface="Arial Black" pitchFamily="34" charset="-120"/>
              </a:rPr>
              <a:t>R199/mo</a:t>
            </a:r>
            <a:endParaRPr lang="en-US" sz="2400" dirty="0"/>
          </a:p>
        </p:txBody>
      </p:sp>
      <p:sp>
        <p:nvSpPr>
          <p:cNvPr id="25" name="Text 23"/>
          <p:cNvSpPr/>
          <p:nvPr/>
        </p:nvSpPr>
        <p:spPr>
          <a:xfrm>
            <a:off x="4846320" y="2468880"/>
            <a:ext cx="187452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5 GB · 40 min · 50 SMS</a:t>
            </a:r>
            <a:endParaRPr lang="en-US" sz="1000" dirty="0"/>
          </a:p>
        </p:txBody>
      </p:sp>
      <p:sp>
        <p:nvSpPr>
          <p:cNvPr id="26" name="Text 24"/>
          <p:cNvSpPr/>
          <p:nvPr/>
        </p:nvSpPr>
        <p:spPr>
          <a:xfrm>
            <a:off x="4846320" y="2926080"/>
            <a:ext cx="1874520" cy="320040"/>
          </a:xfrm>
          <a:prstGeom prst="rect">
            <a:avLst/>
          </a:prstGeom>
          <a:noFill/>
          <a:ln/>
        </p:spPr>
        <p:txBody>
          <a:bodyPr wrap="square" lIns="0" tIns="0" rIns="0" bIns="0"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26.7% GP</a:t>
            </a:r>
            <a:endParaRPr lang="en-US" sz="1100" dirty="0"/>
          </a:p>
        </p:txBody>
      </p:sp>
      <p:sp>
        <p:nvSpPr>
          <p:cNvPr id="27" name="Text 25"/>
          <p:cNvSpPr/>
          <p:nvPr/>
        </p:nvSpPr>
        <p:spPr>
          <a:xfrm>
            <a:off x="4937760" y="333756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Zero-rated Bitexen app</a:t>
            </a:r>
            <a:endParaRPr lang="en-US" sz="850" dirty="0"/>
          </a:p>
        </p:txBody>
      </p:sp>
      <p:sp>
        <p:nvSpPr>
          <p:cNvPr id="28" name="Text 26"/>
          <p:cNvSpPr/>
          <p:nvPr/>
        </p:nvSpPr>
        <p:spPr>
          <a:xfrm>
            <a:off x="4937760" y="361188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Trading reward data</a:t>
            </a:r>
            <a:endParaRPr lang="en-US" sz="850" dirty="0"/>
          </a:p>
        </p:txBody>
      </p:sp>
      <p:sp>
        <p:nvSpPr>
          <p:cNvPr id="29" name="Text 27"/>
          <p:cNvSpPr/>
          <p:nvPr/>
        </p:nvSpPr>
        <p:spPr>
          <a:xfrm>
            <a:off x="4937760" y="388620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Trading fee discount</a:t>
            </a:r>
            <a:endParaRPr lang="en-US" sz="850" dirty="0"/>
          </a:p>
        </p:txBody>
      </p:sp>
      <p:sp>
        <p:nvSpPr>
          <p:cNvPr id="30" name="Text 28"/>
          <p:cNvSpPr/>
          <p:nvPr/>
        </p:nvSpPr>
        <p:spPr>
          <a:xfrm>
            <a:off x="4937760" y="416052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Staking APY bonus</a:t>
            </a:r>
            <a:endParaRPr lang="en-US" sz="850" dirty="0"/>
          </a:p>
        </p:txBody>
      </p:sp>
      <p:sp>
        <p:nvSpPr>
          <p:cNvPr id="31" name="Shape 29"/>
          <p:cNvSpPr/>
          <p:nvPr/>
        </p:nvSpPr>
        <p:spPr>
          <a:xfrm>
            <a:off x="6903720" y="1371600"/>
            <a:ext cx="1874520" cy="3200400"/>
          </a:xfrm>
          <a:prstGeom prst="rect">
            <a:avLst/>
          </a:prstGeom>
          <a:solidFill>
            <a:srgbClr val="F2F2F2"/>
          </a:solidFill>
          <a:ln/>
        </p:spPr>
      </p:sp>
      <p:sp>
        <p:nvSpPr>
          <p:cNvPr id="32" name="Text 30"/>
          <p:cNvSpPr/>
          <p:nvPr/>
        </p:nvSpPr>
        <p:spPr>
          <a:xfrm>
            <a:off x="6903720" y="1554480"/>
            <a:ext cx="1874520" cy="365760"/>
          </a:xfrm>
          <a:prstGeom prst="rect">
            <a:avLst/>
          </a:prstGeom>
          <a:noFill/>
          <a:ln/>
        </p:spPr>
        <p:txBody>
          <a:bodyPr wrap="square" lIns="0" tIns="0" rIns="0" bIns="0" rtlCol="0" anchor="ctr"/>
          <a:lstStyle/>
          <a:p>
            <a:pPr algn="ctr" indent="0" marL="0">
              <a:buNone/>
            </a:pPr>
            <a:r>
              <a:rPr lang="en-US" sz="1400" b="1" dirty="0">
                <a:solidFill>
                  <a:srgbClr val="0A0E1A"/>
                </a:solidFill>
                <a:latin typeface="Arial" pitchFamily="34" charset="0"/>
                <a:ea typeface="Arial" pitchFamily="34" charset="-122"/>
                <a:cs typeface="Arial" pitchFamily="34" charset="-120"/>
              </a:rPr>
              <a:t>Elite</a:t>
            </a:r>
            <a:endParaRPr lang="en-US" sz="1400" dirty="0"/>
          </a:p>
        </p:txBody>
      </p:sp>
      <p:sp>
        <p:nvSpPr>
          <p:cNvPr id="33" name="Text 31"/>
          <p:cNvSpPr/>
          <p:nvPr/>
        </p:nvSpPr>
        <p:spPr>
          <a:xfrm>
            <a:off x="6903720" y="1920240"/>
            <a:ext cx="1874520" cy="457200"/>
          </a:xfrm>
          <a:prstGeom prst="rect">
            <a:avLst/>
          </a:prstGeom>
          <a:noFill/>
          <a:ln/>
        </p:spPr>
        <p:txBody>
          <a:bodyPr wrap="square" lIns="0" tIns="0" rIns="0" bIns="0" rtlCol="0" anchor="ctr"/>
          <a:lstStyle/>
          <a:p>
            <a:pPr algn="ctr" indent="0" marL="0">
              <a:buNone/>
            </a:pPr>
            <a:r>
              <a:rPr lang="en-US" sz="2400" dirty="0">
                <a:solidFill>
                  <a:srgbClr val="0EA5E9"/>
                </a:solidFill>
                <a:latin typeface="Arial Black" pitchFamily="34" charset="0"/>
                <a:ea typeface="Arial Black" pitchFamily="34" charset="-122"/>
                <a:cs typeface="Arial Black" pitchFamily="34" charset="-120"/>
              </a:rPr>
              <a:t>R299/mo</a:t>
            </a:r>
            <a:endParaRPr lang="en-US" sz="2400" dirty="0"/>
          </a:p>
        </p:txBody>
      </p:sp>
      <p:sp>
        <p:nvSpPr>
          <p:cNvPr id="34" name="Text 32"/>
          <p:cNvSpPr/>
          <p:nvPr/>
        </p:nvSpPr>
        <p:spPr>
          <a:xfrm>
            <a:off x="6903720" y="2468880"/>
            <a:ext cx="187452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10 GB · 60 min · 100 SMS</a:t>
            </a:r>
            <a:endParaRPr lang="en-US" sz="1000" dirty="0"/>
          </a:p>
        </p:txBody>
      </p:sp>
      <p:sp>
        <p:nvSpPr>
          <p:cNvPr id="35" name="Text 33"/>
          <p:cNvSpPr/>
          <p:nvPr/>
        </p:nvSpPr>
        <p:spPr>
          <a:xfrm>
            <a:off x="6903720" y="2926080"/>
            <a:ext cx="1874520" cy="320040"/>
          </a:xfrm>
          <a:prstGeom prst="rect">
            <a:avLst/>
          </a:prstGeom>
          <a:noFill/>
          <a:ln/>
        </p:spPr>
        <p:txBody>
          <a:bodyPr wrap="square" lIns="0" tIns="0" rIns="0" bIns="0"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22.6% GP</a:t>
            </a:r>
            <a:endParaRPr lang="en-US" sz="1100" dirty="0"/>
          </a:p>
        </p:txBody>
      </p:sp>
      <p:sp>
        <p:nvSpPr>
          <p:cNvPr id="36" name="Text 34"/>
          <p:cNvSpPr/>
          <p:nvPr/>
        </p:nvSpPr>
        <p:spPr>
          <a:xfrm>
            <a:off x="6995160" y="333756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Zero-rated Bitexen app</a:t>
            </a:r>
            <a:endParaRPr lang="en-US" sz="850" dirty="0"/>
          </a:p>
        </p:txBody>
      </p:sp>
      <p:sp>
        <p:nvSpPr>
          <p:cNvPr id="37" name="Text 35"/>
          <p:cNvSpPr/>
          <p:nvPr/>
        </p:nvSpPr>
        <p:spPr>
          <a:xfrm>
            <a:off x="6995160" y="361188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Trading reward data</a:t>
            </a:r>
            <a:endParaRPr lang="en-US" sz="850" dirty="0"/>
          </a:p>
        </p:txBody>
      </p:sp>
      <p:sp>
        <p:nvSpPr>
          <p:cNvPr id="38" name="Text 36"/>
          <p:cNvSpPr/>
          <p:nvPr/>
        </p:nvSpPr>
        <p:spPr>
          <a:xfrm>
            <a:off x="6995160" y="388620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Trading fee discount</a:t>
            </a:r>
            <a:endParaRPr lang="en-US" sz="850" dirty="0"/>
          </a:p>
        </p:txBody>
      </p:sp>
      <p:sp>
        <p:nvSpPr>
          <p:cNvPr id="39" name="Text 37"/>
          <p:cNvSpPr/>
          <p:nvPr/>
        </p:nvSpPr>
        <p:spPr>
          <a:xfrm>
            <a:off x="6995160" y="4160520"/>
            <a:ext cx="1691640" cy="256032"/>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  Staking APY bonus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CRYPTO REWARDS &amp; TRADING</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Trade more. Earn more data.</a:t>
            </a:r>
            <a:endParaRPr lang="en-US" sz="2800" dirty="0"/>
          </a:p>
        </p:txBody>
      </p:sp>
      <p:sp>
        <p:nvSpPr>
          <p:cNvPr id="4" name="Text 2"/>
          <p:cNvSpPr/>
          <p:nvPr/>
        </p:nvSpPr>
        <p:spPr>
          <a:xfrm>
            <a:off x="731520" y="1051560"/>
            <a:ext cx="73152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The crypto-mobile flywheel</a:t>
            </a:r>
            <a:endParaRPr lang="en-US" sz="1400" dirty="0"/>
          </a:p>
        </p:txBody>
      </p:sp>
      <p:sp>
        <p:nvSpPr>
          <p:cNvPr id="5" name="Shape 3"/>
          <p:cNvSpPr/>
          <p:nvPr/>
        </p:nvSpPr>
        <p:spPr>
          <a:xfrm>
            <a:off x="731520" y="1645920"/>
            <a:ext cx="3749040" cy="1645920"/>
          </a:xfrm>
          <a:prstGeom prst="rect">
            <a:avLst/>
          </a:prstGeom>
          <a:solidFill>
            <a:srgbClr val="F2F2F2"/>
          </a:solidFill>
          <a:ln/>
        </p:spPr>
      </p:sp>
      <p:sp>
        <p:nvSpPr>
          <p:cNvPr id="6" name="Text 4"/>
          <p:cNvSpPr/>
          <p:nvPr/>
        </p:nvSpPr>
        <p:spPr>
          <a:xfrm>
            <a:off x="914400" y="1737360"/>
            <a:ext cx="3383280" cy="274320"/>
          </a:xfrm>
          <a:prstGeom prst="rect">
            <a:avLst/>
          </a:prstGeom>
          <a:noFill/>
          <a:ln/>
        </p:spPr>
        <p:txBody>
          <a:bodyPr wrap="square" lIns="0" tIns="0" rIns="0" bIns="0" rtlCol="0" anchor="ctr"/>
          <a:lstStyle/>
          <a:p>
            <a:pPr indent="0" marL="0">
              <a:buNone/>
            </a:pPr>
            <a:r>
              <a:rPr lang="en-US" sz="1200" b="1" dirty="0">
                <a:solidFill>
                  <a:srgbClr val="0A0E1A"/>
                </a:solidFill>
                <a:latin typeface="Arial" pitchFamily="34" charset="0"/>
                <a:ea typeface="Arial" pitchFamily="34" charset="-122"/>
                <a:cs typeface="Arial" pitchFamily="34" charset="-120"/>
              </a:rPr>
              <a:t>Trading Rewards Engine</a:t>
            </a:r>
            <a:endParaRPr lang="en-US" sz="1200" dirty="0"/>
          </a:p>
        </p:txBody>
      </p:sp>
      <p:sp>
        <p:nvSpPr>
          <p:cNvPr id="7" name="Text 5"/>
          <p:cNvSpPr/>
          <p:nvPr/>
        </p:nvSpPr>
        <p:spPr>
          <a:xfrm>
            <a:off x="914400" y="2103120"/>
            <a:ext cx="3383280" cy="10058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Arial" pitchFamily="34" charset="0"/>
                <a:ea typeface="Arial" pitchFamily="34" charset="-122"/>
                <a:cs typeface="Arial" pitchFamily="34" charset="-120"/>
              </a:rPr>
              <a:t>For every R5,000 traded, subscribers earn bonus data — from 250 MB on Starter to 1 GB on Elite. Max monthly caps ensure margin protection.</a:t>
            </a:r>
            <a:endParaRPr lang="en-US" sz="1000" dirty="0"/>
          </a:p>
        </p:txBody>
      </p:sp>
      <p:sp>
        <p:nvSpPr>
          <p:cNvPr id="8" name="Shape 6"/>
          <p:cNvSpPr/>
          <p:nvPr/>
        </p:nvSpPr>
        <p:spPr>
          <a:xfrm>
            <a:off x="4663440" y="1645920"/>
            <a:ext cx="3749040" cy="1645920"/>
          </a:xfrm>
          <a:prstGeom prst="rect">
            <a:avLst/>
          </a:prstGeom>
          <a:solidFill>
            <a:srgbClr val="0A0E1A"/>
          </a:solidFill>
          <a:ln/>
        </p:spPr>
      </p:sp>
      <p:sp>
        <p:nvSpPr>
          <p:cNvPr id="9" name="Text 7"/>
          <p:cNvSpPr/>
          <p:nvPr/>
        </p:nvSpPr>
        <p:spPr>
          <a:xfrm>
            <a:off x="4846320" y="1737360"/>
            <a:ext cx="3383280" cy="274320"/>
          </a:xfrm>
          <a:prstGeom prst="rect">
            <a:avLst/>
          </a:prstGeom>
          <a:noFill/>
          <a:ln/>
        </p:spPr>
        <p:txBody>
          <a:bodyPr wrap="square" lIns="0" tIns="0" rIns="0" bIns="0" rtlCol="0" anchor="ctr"/>
          <a:lstStyle/>
          <a:p>
            <a:pPr indent="0" marL="0">
              <a:buNone/>
            </a:pPr>
            <a:r>
              <a:rPr lang="en-US" sz="1200" b="1" dirty="0">
                <a:solidFill>
                  <a:srgbClr val="0EA5E9"/>
                </a:solidFill>
                <a:latin typeface="Arial" pitchFamily="34" charset="0"/>
                <a:ea typeface="Arial" pitchFamily="34" charset="-122"/>
                <a:cs typeface="Arial" pitchFamily="34" charset="-120"/>
              </a:rPr>
              <a:t>BTXN Token Advantage</a:t>
            </a:r>
            <a:endParaRPr lang="en-US" sz="1200" dirty="0"/>
          </a:p>
        </p:txBody>
      </p:sp>
      <p:sp>
        <p:nvSpPr>
          <p:cNvPr id="10" name="Text 8"/>
          <p:cNvSpPr/>
          <p:nvPr/>
        </p:nvSpPr>
        <p:spPr>
          <a:xfrm>
            <a:off x="4846320" y="2103120"/>
            <a:ext cx="3383280" cy="1005840"/>
          </a:xfrm>
          <a:prstGeom prst="rect">
            <a:avLst/>
          </a:prstGeom>
          <a:noFill/>
          <a:ln/>
        </p:spPr>
        <p:txBody>
          <a:bodyPr wrap="square" lIns="0" tIns="0" rIns="0" bIns="0" rtlCol="0" anchor="ctr"/>
          <a:lstStyle/>
          <a:p>
            <a:pPr indent="0" marL="0">
              <a:lnSpc>
                <a:spcPct val="130000"/>
              </a:lnSpc>
              <a:buNone/>
            </a:pPr>
            <a:r>
              <a:rPr lang="en-US" sz="1000" dirty="0">
                <a:solidFill>
                  <a:srgbClr val="94A3B8"/>
                </a:solidFill>
                <a:latin typeface="Arial" pitchFamily="34" charset="0"/>
                <a:ea typeface="Arial" pitchFamily="34" charset="-122"/>
                <a:cs typeface="Arial" pitchFamily="34" charset="-120"/>
              </a:rPr>
              <a:t>Monthly BTXN airdrops, staking APY bonuses up to +1.5%, and trading fee discounts up to 25% — all exclusive to MVNO subscribers.</a:t>
            </a:r>
            <a:endParaRPr lang="en-US" sz="1000" dirty="0"/>
          </a:p>
        </p:txBody>
      </p:sp>
      <p:sp>
        <p:nvSpPr>
          <p:cNvPr id="11" name="Shape 9"/>
          <p:cNvSpPr/>
          <p:nvPr/>
        </p:nvSpPr>
        <p:spPr>
          <a:xfrm>
            <a:off x="731520" y="3657600"/>
            <a:ext cx="1874520" cy="1097280"/>
          </a:xfrm>
          <a:prstGeom prst="rect">
            <a:avLst/>
          </a:prstGeom>
          <a:solidFill>
            <a:srgbClr val="F2F2F2"/>
          </a:solidFill>
          <a:ln/>
        </p:spPr>
      </p:sp>
      <p:sp>
        <p:nvSpPr>
          <p:cNvPr id="12" name="Text 10"/>
          <p:cNvSpPr/>
          <p:nvPr/>
        </p:nvSpPr>
        <p:spPr>
          <a:xfrm>
            <a:off x="868680" y="3794760"/>
            <a:ext cx="1600200" cy="274320"/>
          </a:xfrm>
          <a:prstGeom prst="rect">
            <a:avLst/>
          </a:prstGeom>
          <a:noFill/>
          <a:ln/>
        </p:spPr>
        <p:txBody>
          <a:bodyPr wrap="square" lIns="0" tIns="0" rIns="0" bIns="0" rtlCol="0" anchor="ctr"/>
          <a:lstStyle/>
          <a:p>
            <a:pPr indent="0" marL="0">
              <a:buNone/>
            </a:pPr>
            <a:r>
              <a:rPr lang="en-US" sz="1100" b="1" dirty="0">
                <a:solidFill>
                  <a:srgbClr val="0A0E1A"/>
                </a:solidFill>
                <a:latin typeface="Arial" pitchFamily="34" charset="0"/>
                <a:ea typeface="Arial" pitchFamily="34" charset="-122"/>
                <a:cs typeface="Arial" pitchFamily="34" charset="-120"/>
              </a:rPr>
              <a:t>Zero-Rated Trading</a:t>
            </a:r>
            <a:endParaRPr lang="en-US" sz="1100" dirty="0"/>
          </a:p>
        </p:txBody>
      </p:sp>
      <p:sp>
        <p:nvSpPr>
          <p:cNvPr id="13" name="Shape 11"/>
          <p:cNvSpPr/>
          <p:nvPr/>
        </p:nvSpPr>
        <p:spPr>
          <a:xfrm>
            <a:off x="2788920" y="3657600"/>
            <a:ext cx="1874520" cy="1097280"/>
          </a:xfrm>
          <a:prstGeom prst="rect">
            <a:avLst/>
          </a:prstGeom>
          <a:solidFill>
            <a:srgbClr val="F2F2F2"/>
          </a:solidFill>
          <a:ln/>
        </p:spPr>
      </p:sp>
      <p:sp>
        <p:nvSpPr>
          <p:cNvPr id="14" name="Text 12"/>
          <p:cNvSpPr/>
          <p:nvPr/>
        </p:nvSpPr>
        <p:spPr>
          <a:xfrm>
            <a:off x="2926080" y="3794760"/>
            <a:ext cx="1600200" cy="274320"/>
          </a:xfrm>
          <a:prstGeom prst="rect">
            <a:avLst/>
          </a:prstGeom>
          <a:noFill/>
          <a:ln/>
        </p:spPr>
        <p:txBody>
          <a:bodyPr wrap="square" lIns="0" tIns="0" rIns="0" bIns="0" rtlCol="0" anchor="ctr"/>
          <a:lstStyle/>
          <a:p>
            <a:pPr indent="0" marL="0">
              <a:buNone/>
            </a:pPr>
            <a:r>
              <a:rPr lang="en-US" sz="1100" b="1" dirty="0">
                <a:solidFill>
                  <a:srgbClr val="0A0E1A"/>
                </a:solidFill>
                <a:latin typeface="Arial" pitchFamily="34" charset="0"/>
                <a:ea typeface="Arial" pitchFamily="34" charset="-122"/>
                <a:cs typeface="Arial" pitchFamily="34" charset="-120"/>
              </a:rPr>
              <a:t>Trading Fee Discounts</a:t>
            </a:r>
            <a:endParaRPr lang="en-US" sz="1100" dirty="0"/>
          </a:p>
        </p:txBody>
      </p:sp>
      <p:sp>
        <p:nvSpPr>
          <p:cNvPr id="15" name="Shape 13"/>
          <p:cNvSpPr/>
          <p:nvPr/>
        </p:nvSpPr>
        <p:spPr>
          <a:xfrm>
            <a:off x="4846320" y="3657600"/>
            <a:ext cx="1874520" cy="1097280"/>
          </a:xfrm>
          <a:prstGeom prst="rect">
            <a:avLst/>
          </a:prstGeom>
          <a:solidFill>
            <a:srgbClr val="F2F2F2"/>
          </a:solidFill>
          <a:ln/>
        </p:spPr>
      </p:sp>
      <p:sp>
        <p:nvSpPr>
          <p:cNvPr id="16" name="Text 14"/>
          <p:cNvSpPr/>
          <p:nvPr/>
        </p:nvSpPr>
        <p:spPr>
          <a:xfrm>
            <a:off x="4983480" y="3794760"/>
            <a:ext cx="1600200" cy="274320"/>
          </a:xfrm>
          <a:prstGeom prst="rect">
            <a:avLst/>
          </a:prstGeom>
          <a:noFill/>
          <a:ln/>
        </p:spPr>
        <p:txBody>
          <a:bodyPr wrap="square" lIns="0" tIns="0" rIns="0" bIns="0" rtlCol="0" anchor="ctr"/>
          <a:lstStyle/>
          <a:p>
            <a:pPr indent="0" marL="0">
              <a:buNone/>
            </a:pPr>
            <a:r>
              <a:rPr lang="en-US" sz="1100" b="1" dirty="0">
                <a:solidFill>
                  <a:srgbClr val="0A0E1A"/>
                </a:solidFill>
                <a:latin typeface="Arial" pitchFamily="34" charset="0"/>
                <a:ea typeface="Arial" pitchFamily="34" charset="-122"/>
                <a:cs typeface="Arial" pitchFamily="34" charset="-120"/>
              </a:rPr>
              <a:t>Staking APY Bonuses</a:t>
            </a:r>
            <a:endParaRPr lang="en-US" sz="1100" dirty="0"/>
          </a:p>
        </p:txBody>
      </p:sp>
      <p:sp>
        <p:nvSpPr>
          <p:cNvPr id="17" name="Shape 15"/>
          <p:cNvSpPr/>
          <p:nvPr/>
        </p:nvSpPr>
        <p:spPr>
          <a:xfrm>
            <a:off x="6903720" y="3657600"/>
            <a:ext cx="1874520" cy="1097280"/>
          </a:xfrm>
          <a:prstGeom prst="rect">
            <a:avLst/>
          </a:prstGeom>
          <a:solidFill>
            <a:srgbClr val="F2F2F2"/>
          </a:solidFill>
          <a:ln/>
        </p:spPr>
      </p:sp>
      <p:sp>
        <p:nvSpPr>
          <p:cNvPr id="18" name="Text 16"/>
          <p:cNvSpPr/>
          <p:nvPr/>
        </p:nvSpPr>
        <p:spPr>
          <a:xfrm>
            <a:off x="7040880" y="3794760"/>
            <a:ext cx="1600200" cy="274320"/>
          </a:xfrm>
          <a:prstGeom prst="rect">
            <a:avLst/>
          </a:prstGeom>
          <a:noFill/>
          <a:ln/>
        </p:spPr>
        <p:txBody>
          <a:bodyPr wrap="square" lIns="0" tIns="0" rIns="0" bIns="0" rtlCol="0" anchor="ctr"/>
          <a:lstStyle/>
          <a:p>
            <a:pPr indent="0" marL="0">
              <a:buNone/>
            </a:pPr>
            <a:r>
              <a:rPr lang="en-US" sz="1100" b="1" dirty="0">
                <a:solidFill>
                  <a:srgbClr val="0A0E1A"/>
                </a:solidFill>
                <a:latin typeface="Arial" pitchFamily="34" charset="0"/>
                <a:ea typeface="Arial" pitchFamily="34" charset="-122"/>
                <a:cs typeface="Arial" pitchFamily="34" charset="-120"/>
              </a:rPr>
              <a:t>Learn-and-Earn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OPERATING MODEL</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A collaborative three-party model.</a:t>
            </a:r>
            <a:endParaRPr lang="en-US" sz="2800" dirty="0"/>
          </a:p>
        </p:txBody>
      </p:sp>
      <p:sp>
        <p:nvSpPr>
          <p:cNvPr id="4" name="Shape 2"/>
          <p:cNvSpPr/>
          <p:nvPr/>
        </p:nvSpPr>
        <p:spPr>
          <a:xfrm>
            <a:off x="731520" y="1371600"/>
            <a:ext cx="2560320" cy="3200400"/>
          </a:xfrm>
          <a:prstGeom prst="rect">
            <a:avLst/>
          </a:prstGeom>
          <a:solidFill>
            <a:srgbClr val="F2F2F2"/>
          </a:solidFill>
          <a:ln/>
        </p:spPr>
      </p:sp>
      <p:sp>
        <p:nvSpPr>
          <p:cNvPr id="5" name="Text 3"/>
          <p:cNvSpPr/>
          <p:nvPr/>
        </p:nvSpPr>
        <p:spPr>
          <a:xfrm>
            <a:off x="731520" y="1508760"/>
            <a:ext cx="2560320" cy="365760"/>
          </a:xfrm>
          <a:prstGeom prst="rect">
            <a:avLst/>
          </a:prstGeom>
          <a:noFill/>
          <a:ln/>
        </p:spPr>
        <p:txBody>
          <a:bodyPr wrap="square" lIns="0" tIns="0" rIns="0" bIns="0" rtlCol="0" anchor="ctr"/>
          <a:lstStyle/>
          <a:p>
            <a:pPr algn="ctr" indent="0" marL="0">
              <a:buNone/>
            </a:pPr>
            <a:r>
              <a:rPr lang="en-US" sz="1600" b="1" dirty="0">
                <a:solidFill>
                  <a:srgbClr val="0A0E1A"/>
                </a:solidFill>
                <a:latin typeface="Arial" pitchFamily="34" charset="0"/>
                <a:ea typeface="Arial" pitchFamily="34" charset="-122"/>
                <a:cs typeface="Arial" pitchFamily="34" charset="-120"/>
              </a:rPr>
              <a:t>Bitexen</a:t>
            </a:r>
            <a:endParaRPr lang="en-US" sz="1600" dirty="0"/>
          </a:p>
        </p:txBody>
      </p:sp>
      <p:sp>
        <p:nvSpPr>
          <p:cNvPr id="6" name="Text 4"/>
          <p:cNvSpPr/>
          <p:nvPr/>
        </p:nvSpPr>
        <p:spPr>
          <a:xfrm>
            <a:off x="731520" y="1874520"/>
            <a:ext cx="25603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Brand, fintech, audience</a:t>
            </a:r>
            <a:endParaRPr lang="en-US" sz="1000" dirty="0"/>
          </a:p>
        </p:txBody>
      </p:sp>
      <p:sp>
        <p:nvSpPr>
          <p:cNvPr id="7" name="Text 5"/>
          <p:cNvSpPr/>
          <p:nvPr/>
        </p:nvSpPr>
        <p:spPr>
          <a:xfrm>
            <a:off x="914400" y="233172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Brand ownership</a:t>
            </a:r>
            <a:endParaRPr lang="en-US" sz="1000" dirty="0"/>
          </a:p>
        </p:txBody>
      </p:sp>
      <p:sp>
        <p:nvSpPr>
          <p:cNvPr id="8" name="Text 6"/>
          <p:cNvSpPr/>
          <p:nvPr/>
        </p:nvSpPr>
        <p:spPr>
          <a:xfrm>
            <a:off x="914400" y="265176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Fintech integration</a:t>
            </a:r>
            <a:endParaRPr lang="en-US" sz="1000" dirty="0"/>
          </a:p>
        </p:txBody>
      </p:sp>
      <p:sp>
        <p:nvSpPr>
          <p:cNvPr id="9" name="Text 7"/>
          <p:cNvSpPr/>
          <p:nvPr/>
        </p:nvSpPr>
        <p:spPr>
          <a:xfrm>
            <a:off x="914400" y="297180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Marketing activation</a:t>
            </a:r>
            <a:endParaRPr lang="en-US" sz="1000" dirty="0"/>
          </a:p>
        </p:txBody>
      </p:sp>
      <p:sp>
        <p:nvSpPr>
          <p:cNvPr id="10" name="Text 8"/>
          <p:cNvSpPr/>
          <p:nvPr/>
        </p:nvSpPr>
        <p:spPr>
          <a:xfrm>
            <a:off x="914400" y="329184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Crypto rewards programme</a:t>
            </a:r>
            <a:endParaRPr lang="en-US" sz="1000" dirty="0"/>
          </a:p>
        </p:txBody>
      </p:sp>
      <p:sp>
        <p:nvSpPr>
          <p:cNvPr id="11" name="Shape 9"/>
          <p:cNvSpPr/>
          <p:nvPr/>
        </p:nvSpPr>
        <p:spPr>
          <a:xfrm>
            <a:off x="3474720" y="1371600"/>
            <a:ext cx="2560320" cy="3200400"/>
          </a:xfrm>
          <a:prstGeom prst="rect">
            <a:avLst/>
          </a:prstGeom>
          <a:solidFill>
            <a:srgbClr val="0A0E1A"/>
          </a:solidFill>
          <a:ln/>
        </p:spPr>
      </p:sp>
      <p:sp>
        <p:nvSpPr>
          <p:cNvPr id="12" name="Text 10"/>
          <p:cNvSpPr/>
          <p:nvPr/>
        </p:nvSpPr>
        <p:spPr>
          <a:xfrm>
            <a:off x="3474720" y="1508760"/>
            <a:ext cx="25603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Digital Mobile</a:t>
            </a:r>
            <a:endParaRPr lang="en-US" sz="1600" dirty="0"/>
          </a:p>
        </p:txBody>
      </p:sp>
      <p:sp>
        <p:nvSpPr>
          <p:cNvPr id="13" name="Text 11"/>
          <p:cNvSpPr/>
          <p:nvPr/>
        </p:nvSpPr>
        <p:spPr>
          <a:xfrm>
            <a:off x="3474720" y="1874520"/>
            <a:ext cx="2560320" cy="274320"/>
          </a:xfrm>
          <a:prstGeom prst="rect">
            <a:avLst/>
          </a:prstGeom>
          <a:noFill/>
          <a:ln/>
        </p:spPr>
        <p:txBody>
          <a:bodyPr wrap="square" lIns="0" tIns="0" rIns="0" bIns="0" rtlCol="0" anchor="ctr"/>
          <a:lstStyle/>
          <a:p>
            <a:pPr algn="ctr" indent="0" marL="0">
              <a:buNone/>
            </a:pPr>
            <a:r>
              <a:rPr lang="en-US" sz="1000" dirty="0">
                <a:solidFill>
                  <a:srgbClr val="0EA5E9"/>
                </a:solidFill>
                <a:latin typeface="Arial" pitchFamily="34" charset="0"/>
                <a:ea typeface="Arial" pitchFamily="34" charset="-122"/>
                <a:cs typeface="Arial" pitchFamily="34" charset="-120"/>
              </a:rPr>
              <a:t>MVNO platform, ops, VAS</a:t>
            </a:r>
            <a:endParaRPr lang="en-US" sz="1000" dirty="0"/>
          </a:p>
        </p:txBody>
      </p:sp>
      <p:sp>
        <p:nvSpPr>
          <p:cNvPr id="14" name="Text 12"/>
          <p:cNvSpPr/>
          <p:nvPr/>
        </p:nvSpPr>
        <p:spPr>
          <a:xfrm>
            <a:off x="3657600" y="2331720"/>
            <a:ext cx="219456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  MVNE platform (BSS/OSS)</a:t>
            </a:r>
            <a:endParaRPr lang="en-US" sz="1000" dirty="0"/>
          </a:p>
        </p:txBody>
      </p:sp>
      <p:sp>
        <p:nvSpPr>
          <p:cNvPr id="15" name="Text 13"/>
          <p:cNvSpPr/>
          <p:nvPr/>
        </p:nvSpPr>
        <p:spPr>
          <a:xfrm>
            <a:off x="3657600" y="2651760"/>
            <a:ext cx="219456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  SIM lifecycle, billing, CRM</a:t>
            </a:r>
            <a:endParaRPr lang="en-US" sz="1000" dirty="0"/>
          </a:p>
        </p:txBody>
      </p:sp>
      <p:sp>
        <p:nvSpPr>
          <p:cNvPr id="16" name="Text 14"/>
          <p:cNvSpPr/>
          <p:nvPr/>
        </p:nvSpPr>
        <p:spPr>
          <a:xfrm>
            <a:off x="3657600" y="2971800"/>
            <a:ext cx="219456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  VAS integration</a:t>
            </a:r>
            <a:endParaRPr lang="en-US" sz="1000" dirty="0"/>
          </a:p>
        </p:txBody>
      </p:sp>
      <p:sp>
        <p:nvSpPr>
          <p:cNvPr id="17" name="Text 15"/>
          <p:cNvSpPr/>
          <p:nvPr/>
        </p:nvSpPr>
        <p:spPr>
          <a:xfrm>
            <a:off x="3657600" y="3291840"/>
            <a:ext cx="219456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  Regulatory compliance</a:t>
            </a:r>
            <a:endParaRPr lang="en-US" sz="1000" dirty="0"/>
          </a:p>
        </p:txBody>
      </p:sp>
      <p:sp>
        <p:nvSpPr>
          <p:cNvPr id="18" name="Shape 16"/>
          <p:cNvSpPr/>
          <p:nvPr/>
        </p:nvSpPr>
        <p:spPr>
          <a:xfrm>
            <a:off x="6217920" y="1371600"/>
            <a:ext cx="2560320" cy="3200400"/>
          </a:xfrm>
          <a:prstGeom prst="rect">
            <a:avLst/>
          </a:prstGeom>
          <a:solidFill>
            <a:srgbClr val="F2F2F2"/>
          </a:solidFill>
          <a:ln/>
        </p:spPr>
      </p:sp>
      <p:sp>
        <p:nvSpPr>
          <p:cNvPr id="19" name="Text 17"/>
          <p:cNvSpPr/>
          <p:nvPr/>
        </p:nvSpPr>
        <p:spPr>
          <a:xfrm>
            <a:off x="6217920" y="1508760"/>
            <a:ext cx="2560320" cy="365760"/>
          </a:xfrm>
          <a:prstGeom prst="rect">
            <a:avLst/>
          </a:prstGeom>
          <a:noFill/>
          <a:ln/>
        </p:spPr>
        <p:txBody>
          <a:bodyPr wrap="square" lIns="0" tIns="0" rIns="0" bIns="0" rtlCol="0" anchor="ctr"/>
          <a:lstStyle/>
          <a:p>
            <a:pPr algn="ctr" indent="0" marL="0">
              <a:buNone/>
            </a:pPr>
            <a:r>
              <a:rPr lang="en-US" sz="1600" b="1" dirty="0">
                <a:solidFill>
                  <a:srgbClr val="0A0E1A"/>
                </a:solidFill>
                <a:latin typeface="Arial" pitchFamily="34" charset="0"/>
                <a:ea typeface="Arial" pitchFamily="34" charset="-122"/>
                <a:cs typeface="Arial" pitchFamily="34" charset="-120"/>
              </a:rPr>
              <a:t>MNO Host</a:t>
            </a:r>
            <a:endParaRPr lang="en-US" sz="1600" dirty="0"/>
          </a:p>
        </p:txBody>
      </p:sp>
      <p:sp>
        <p:nvSpPr>
          <p:cNvPr id="20" name="Text 18"/>
          <p:cNvSpPr/>
          <p:nvPr/>
        </p:nvSpPr>
        <p:spPr>
          <a:xfrm>
            <a:off x="6217920" y="1874520"/>
            <a:ext cx="25603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Network infrastructure</a:t>
            </a:r>
            <a:endParaRPr lang="en-US" sz="1000" dirty="0"/>
          </a:p>
        </p:txBody>
      </p:sp>
      <p:sp>
        <p:nvSpPr>
          <p:cNvPr id="21" name="Text 19"/>
          <p:cNvSpPr/>
          <p:nvPr/>
        </p:nvSpPr>
        <p:spPr>
          <a:xfrm>
            <a:off x="6400800" y="233172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Radio access &amp; core network</a:t>
            </a:r>
            <a:endParaRPr lang="en-US" sz="1000" dirty="0"/>
          </a:p>
        </p:txBody>
      </p:sp>
      <p:sp>
        <p:nvSpPr>
          <p:cNvPr id="22" name="Text 20"/>
          <p:cNvSpPr/>
          <p:nvPr/>
        </p:nvSpPr>
        <p:spPr>
          <a:xfrm>
            <a:off x="6400800" y="265176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Wholesale capacity</a:t>
            </a:r>
            <a:endParaRPr lang="en-US" sz="1000" dirty="0"/>
          </a:p>
        </p:txBody>
      </p:sp>
      <p:sp>
        <p:nvSpPr>
          <p:cNvPr id="23" name="Text 21"/>
          <p:cNvSpPr/>
          <p:nvPr/>
        </p:nvSpPr>
        <p:spPr>
          <a:xfrm>
            <a:off x="6400800" y="297180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National coverage</a:t>
            </a:r>
            <a:endParaRPr lang="en-US" sz="1000" dirty="0"/>
          </a:p>
        </p:txBody>
      </p:sp>
      <p:sp>
        <p:nvSpPr>
          <p:cNvPr id="24" name="Text 22"/>
          <p:cNvSpPr/>
          <p:nvPr/>
        </p:nvSpPr>
        <p:spPr>
          <a:xfrm>
            <a:off x="6400800" y="329184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  Roaming agreements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94A3B8"/>
                </a:solidFill>
                <a:latin typeface="Arial" pitchFamily="34" charset="0"/>
                <a:ea typeface="Arial" pitchFamily="34" charset="-122"/>
                <a:cs typeface="Arial" pitchFamily="34" charset="-120"/>
              </a:rPr>
              <a:t>REVENUE MODEL</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Five revenue layers. One platform.</a:t>
            </a:r>
            <a:endParaRPr lang="en-US" sz="2800" dirty="0"/>
          </a:p>
        </p:txBody>
      </p:sp>
      <p:sp>
        <p:nvSpPr>
          <p:cNvPr id="4" name="Shape 2"/>
          <p:cNvSpPr/>
          <p:nvPr/>
        </p:nvSpPr>
        <p:spPr>
          <a:xfrm>
            <a:off x="731520" y="1463040"/>
            <a:ext cx="1463040" cy="1463040"/>
          </a:xfrm>
          <a:prstGeom prst="rect">
            <a:avLst/>
          </a:prstGeom>
          <a:solidFill>
            <a:srgbClr val="1E293B"/>
          </a:solidFill>
          <a:ln/>
        </p:spPr>
      </p:sp>
      <p:sp>
        <p:nvSpPr>
          <p:cNvPr id="5" name="Text 3"/>
          <p:cNvSpPr/>
          <p:nvPr/>
        </p:nvSpPr>
        <p:spPr>
          <a:xfrm>
            <a:off x="731520" y="1554480"/>
            <a:ext cx="1463040" cy="274320"/>
          </a:xfrm>
          <a:prstGeom prst="rect">
            <a:avLst/>
          </a:prstGeom>
          <a:noFill/>
          <a:ln/>
        </p:spPr>
        <p:txBody>
          <a:bodyPr wrap="square" lIns="0" tIns="0" rIns="0" bIns="0"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Layer 1</a:t>
            </a:r>
            <a:endParaRPr lang="en-US" sz="900" dirty="0"/>
          </a:p>
        </p:txBody>
      </p:sp>
      <p:sp>
        <p:nvSpPr>
          <p:cNvPr id="6" name="Text 4"/>
          <p:cNvSpPr/>
          <p:nvPr/>
        </p:nvSpPr>
        <p:spPr>
          <a:xfrm>
            <a:off x="731520" y="19202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Connectivity</a:t>
            </a:r>
            <a:endParaRPr lang="en-US" sz="1200" dirty="0"/>
          </a:p>
        </p:txBody>
      </p:sp>
      <p:sp>
        <p:nvSpPr>
          <p:cNvPr id="7" name="Shape 5"/>
          <p:cNvSpPr/>
          <p:nvPr/>
        </p:nvSpPr>
        <p:spPr>
          <a:xfrm>
            <a:off x="2377440" y="1463040"/>
            <a:ext cx="1463040" cy="1463040"/>
          </a:xfrm>
          <a:prstGeom prst="rect">
            <a:avLst/>
          </a:prstGeom>
          <a:solidFill>
            <a:srgbClr val="1E293B"/>
          </a:solidFill>
          <a:ln/>
        </p:spPr>
      </p:sp>
      <p:sp>
        <p:nvSpPr>
          <p:cNvPr id="8" name="Text 6"/>
          <p:cNvSpPr/>
          <p:nvPr/>
        </p:nvSpPr>
        <p:spPr>
          <a:xfrm>
            <a:off x="2377440" y="1554480"/>
            <a:ext cx="1463040" cy="274320"/>
          </a:xfrm>
          <a:prstGeom prst="rect">
            <a:avLst/>
          </a:prstGeom>
          <a:noFill/>
          <a:ln/>
        </p:spPr>
        <p:txBody>
          <a:bodyPr wrap="square" lIns="0" tIns="0" rIns="0" bIns="0"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Layer 2</a:t>
            </a:r>
            <a:endParaRPr lang="en-US" sz="900" dirty="0"/>
          </a:p>
        </p:txBody>
      </p:sp>
      <p:sp>
        <p:nvSpPr>
          <p:cNvPr id="9" name="Text 7"/>
          <p:cNvSpPr/>
          <p:nvPr/>
        </p:nvSpPr>
        <p:spPr>
          <a:xfrm>
            <a:off x="2377440" y="19202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Fintech Services</a:t>
            </a:r>
            <a:endParaRPr lang="en-US" sz="1200" dirty="0"/>
          </a:p>
        </p:txBody>
      </p:sp>
      <p:sp>
        <p:nvSpPr>
          <p:cNvPr id="10" name="Shape 8"/>
          <p:cNvSpPr/>
          <p:nvPr/>
        </p:nvSpPr>
        <p:spPr>
          <a:xfrm>
            <a:off x="4023360" y="1463040"/>
            <a:ext cx="1463040" cy="1463040"/>
          </a:xfrm>
          <a:prstGeom prst="rect">
            <a:avLst/>
          </a:prstGeom>
          <a:solidFill>
            <a:srgbClr val="1E293B"/>
          </a:solidFill>
          <a:ln/>
        </p:spPr>
      </p:sp>
      <p:sp>
        <p:nvSpPr>
          <p:cNvPr id="11" name="Text 9"/>
          <p:cNvSpPr/>
          <p:nvPr/>
        </p:nvSpPr>
        <p:spPr>
          <a:xfrm>
            <a:off x="4023360" y="1554480"/>
            <a:ext cx="1463040" cy="274320"/>
          </a:xfrm>
          <a:prstGeom prst="rect">
            <a:avLst/>
          </a:prstGeom>
          <a:noFill/>
          <a:ln/>
        </p:spPr>
        <p:txBody>
          <a:bodyPr wrap="square" lIns="0" tIns="0" rIns="0" bIns="0"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Layer 3</a:t>
            </a:r>
            <a:endParaRPr lang="en-US" sz="900" dirty="0"/>
          </a:p>
        </p:txBody>
      </p:sp>
      <p:sp>
        <p:nvSpPr>
          <p:cNvPr id="12" name="Text 10"/>
          <p:cNvSpPr/>
          <p:nvPr/>
        </p:nvSpPr>
        <p:spPr>
          <a:xfrm>
            <a:off x="4023360" y="19202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Advertising</a:t>
            </a:r>
            <a:endParaRPr lang="en-US" sz="1200" dirty="0"/>
          </a:p>
        </p:txBody>
      </p:sp>
      <p:sp>
        <p:nvSpPr>
          <p:cNvPr id="13" name="Shape 11"/>
          <p:cNvSpPr/>
          <p:nvPr/>
        </p:nvSpPr>
        <p:spPr>
          <a:xfrm>
            <a:off x="5669280" y="1463040"/>
            <a:ext cx="1463040" cy="1463040"/>
          </a:xfrm>
          <a:prstGeom prst="rect">
            <a:avLst/>
          </a:prstGeom>
          <a:solidFill>
            <a:srgbClr val="1E293B"/>
          </a:solidFill>
          <a:ln/>
        </p:spPr>
      </p:sp>
      <p:sp>
        <p:nvSpPr>
          <p:cNvPr id="14" name="Text 12"/>
          <p:cNvSpPr/>
          <p:nvPr/>
        </p:nvSpPr>
        <p:spPr>
          <a:xfrm>
            <a:off x="5669280" y="1554480"/>
            <a:ext cx="1463040" cy="274320"/>
          </a:xfrm>
          <a:prstGeom prst="rect">
            <a:avLst/>
          </a:prstGeom>
          <a:noFill/>
          <a:ln/>
        </p:spPr>
        <p:txBody>
          <a:bodyPr wrap="square" lIns="0" tIns="0" rIns="0" bIns="0"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Layer 4</a:t>
            </a:r>
            <a:endParaRPr lang="en-US" sz="900" dirty="0"/>
          </a:p>
        </p:txBody>
      </p:sp>
      <p:sp>
        <p:nvSpPr>
          <p:cNvPr id="15" name="Text 13"/>
          <p:cNvSpPr/>
          <p:nvPr/>
        </p:nvSpPr>
        <p:spPr>
          <a:xfrm>
            <a:off x="5669280" y="19202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Commerce</a:t>
            </a:r>
            <a:endParaRPr lang="en-US" sz="1200" dirty="0"/>
          </a:p>
        </p:txBody>
      </p:sp>
      <p:sp>
        <p:nvSpPr>
          <p:cNvPr id="16" name="Shape 14"/>
          <p:cNvSpPr/>
          <p:nvPr/>
        </p:nvSpPr>
        <p:spPr>
          <a:xfrm>
            <a:off x="7315200" y="1463040"/>
            <a:ext cx="1463040" cy="1463040"/>
          </a:xfrm>
          <a:prstGeom prst="rect">
            <a:avLst/>
          </a:prstGeom>
          <a:solidFill>
            <a:srgbClr val="1E293B"/>
          </a:solidFill>
          <a:ln/>
        </p:spPr>
      </p:sp>
      <p:sp>
        <p:nvSpPr>
          <p:cNvPr id="17" name="Text 15"/>
          <p:cNvSpPr/>
          <p:nvPr/>
        </p:nvSpPr>
        <p:spPr>
          <a:xfrm>
            <a:off x="7315200" y="1554480"/>
            <a:ext cx="1463040" cy="274320"/>
          </a:xfrm>
          <a:prstGeom prst="rect">
            <a:avLst/>
          </a:prstGeom>
          <a:noFill/>
          <a:ln/>
        </p:spPr>
        <p:txBody>
          <a:bodyPr wrap="square" lIns="0" tIns="0" rIns="0" bIns="0"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Layer 5</a:t>
            </a:r>
            <a:endParaRPr lang="en-US" sz="900" dirty="0"/>
          </a:p>
        </p:txBody>
      </p:sp>
      <p:sp>
        <p:nvSpPr>
          <p:cNvPr id="18" name="Text 16"/>
          <p:cNvSpPr/>
          <p:nvPr/>
        </p:nvSpPr>
        <p:spPr>
          <a:xfrm>
            <a:off x="7315200" y="19202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VAS</a:t>
            </a:r>
            <a:endParaRPr lang="en-US" sz="1200" dirty="0"/>
          </a:p>
        </p:txBody>
      </p:sp>
      <p:sp>
        <p:nvSpPr>
          <p:cNvPr id="19" name="Text 17"/>
          <p:cNvSpPr/>
          <p:nvPr/>
        </p:nvSpPr>
        <p:spPr>
          <a:xfrm>
            <a:off x="731520" y="3291840"/>
            <a:ext cx="3657600" cy="27432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Customer Value Flywheel</a:t>
            </a:r>
            <a:endParaRPr lang="en-US" sz="1100" dirty="0"/>
          </a:p>
        </p:txBody>
      </p:sp>
      <p:sp>
        <p:nvSpPr>
          <p:cNvPr id="20" name="Text 18"/>
          <p:cNvSpPr/>
          <p:nvPr/>
        </p:nvSpPr>
        <p:spPr>
          <a:xfrm>
            <a:off x="731520" y="3657600"/>
            <a:ext cx="45720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1.  Fintech drives engagement</a:t>
            </a:r>
            <a:endParaRPr lang="en-US" sz="1000" dirty="0"/>
          </a:p>
        </p:txBody>
      </p:sp>
      <p:sp>
        <p:nvSpPr>
          <p:cNvPr id="21" name="Text 19"/>
          <p:cNvSpPr/>
          <p:nvPr/>
        </p:nvSpPr>
        <p:spPr>
          <a:xfrm>
            <a:off x="731520" y="3913632"/>
            <a:ext cx="45720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2.  Engagement earns rewards</a:t>
            </a:r>
            <a:endParaRPr lang="en-US" sz="1000" dirty="0"/>
          </a:p>
        </p:txBody>
      </p:sp>
      <p:sp>
        <p:nvSpPr>
          <p:cNvPr id="22" name="Text 20"/>
          <p:cNvSpPr/>
          <p:nvPr/>
        </p:nvSpPr>
        <p:spPr>
          <a:xfrm>
            <a:off x="731520" y="4169664"/>
            <a:ext cx="45720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3.  Rewards drive SIM usage</a:t>
            </a:r>
            <a:endParaRPr lang="en-US" sz="1000" dirty="0"/>
          </a:p>
        </p:txBody>
      </p:sp>
      <p:sp>
        <p:nvSpPr>
          <p:cNvPr id="23" name="Text 21"/>
          <p:cNvSpPr/>
          <p:nvPr/>
        </p:nvSpPr>
        <p:spPr>
          <a:xfrm>
            <a:off x="731520" y="4425696"/>
            <a:ext cx="45720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4.  Usage generates revenue</a:t>
            </a:r>
            <a:endParaRPr lang="en-US" sz="1000" dirty="0"/>
          </a:p>
        </p:txBody>
      </p:sp>
      <p:sp>
        <p:nvSpPr>
          <p:cNvPr id="24" name="Text 22"/>
          <p:cNvSpPr/>
          <p:nvPr/>
        </p:nvSpPr>
        <p:spPr>
          <a:xfrm>
            <a:off x="731520" y="4681728"/>
            <a:ext cx="45720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5.  Data improves targeting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COMMERCIAL MODEL</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Low set up and generous revenue share.</a:t>
            </a:r>
            <a:endParaRPr lang="en-US" sz="2800" dirty="0"/>
          </a:p>
        </p:txBody>
      </p:sp>
      <p:sp>
        <p:nvSpPr>
          <p:cNvPr id="4" name="Shape 2"/>
          <p:cNvSpPr/>
          <p:nvPr/>
        </p:nvSpPr>
        <p:spPr>
          <a:xfrm>
            <a:off x="731520" y="1371600"/>
            <a:ext cx="1874520" cy="1097280"/>
          </a:xfrm>
          <a:prstGeom prst="rect">
            <a:avLst/>
          </a:prstGeom>
          <a:solidFill>
            <a:srgbClr val="F2F2F2"/>
          </a:solidFill>
          <a:ln/>
        </p:spPr>
      </p:sp>
      <p:sp>
        <p:nvSpPr>
          <p:cNvPr id="5" name="Text 3"/>
          <p:cNvSpPr/>
          <p:nvPr/>
        </p:nvSpPr>
        <p:spPr>
          <a:xfrm>
            <a:off x="731520" y="1417320"/>
            <a:ext cx="1874520" cy="594360"/>
          </a:xfrm>
          <a:prstGeom prst="rect">
            <a:avLst/>
          </a:prstGeom>
          <a:noFill/>
          <a:ln/>
        </p:spPr>
        <p:txBody>
          <a:bodyPr wrap="square" lIns="0" tIns="0" rIns="0" bIns="0" rtlCol="0" anchor="ctr"/>
          <a:lstStyle/>
          <a:p>
            <a:pPr algn="ctr" indent="0" marL="0">
              <a:buNone/>
            </a:pPr>
            <a:r>
              <a:rPr lang="en-US" sz="2800" dirty="0">
                <a:solidFill>
                  <a:srgbClr val="0A0E1A"/>
                </a:solidFill>
                <a:latin typeface="Arial Black" pitchFamily="34" charset="0"/>
                <a:ea typeface="Arial Black" pitchFamily="34" charset="-122"/>
                <a:cs typeface="Arial Black" pitchFamily="34" charset="-120"/>
              </a:rPr>
              <a:t>R250k</a:t>
            </a:r>
            <a:endParaRPr lang="en-US" sz="2800" dirty="0"/>
          </a:p>
        </p:txBody>
      </p:sp>
      <p:sp>
        <p:nvSpPr>
          <p:cNvPr id="6" name="Text 4"/>
          <p:cNvSpPr/>
          <p:nvPr/>
        </p:nvSpPr>
        <p:spPr>
          <a:xfrm>
            <a:off x="731520" y="2011680"/>
            <a:ext cx="187452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Upfront capex</a:t>
            </a:r>
            <a:endParaRPr lang="en-US" sz="1000" dirty="0"/>
          </a:p>
        </p:txBody>
      </p:sp>
      <p:sp>
        <p:nvSpPr>
          <p:cNvPr id="7" name="Shape 5"/>
          <p:cNvSpPr/>
          <p:nvPr/>
        </p:nvSpPr>
        <p:spPr>
          <a:xfrm>
            <a:off x="2788920" y="1371600"/>
            <a:ext cx="1874520" cy="1097280"/>
          </a:xfrm>
          <a:prstGeom prst="rect">
            <a:avLst/>
          </a:prstGeom>
          <a:solidFill>
            <a:srgbClr val="F2F2F2"/>
          </a:solidFill>
          <a:ln/>
        </p:spPr>
      </p:sp>
      <p:sp>
        <p:nvSpPr>
          <p:cNvPr id="8" name="Text 6"/>
          <p:cNvSpPr/>
          <p:nvPr/>
        </p:nvSpPr>
        <p:spPr>
          <a:xfrm>
            <a:off x="2788920" y="1417320"/>
            <a:ext cx="1874520" cy="594360"/>
          </a:xfrm>
          <a:prstGeom prst="rect">
            <a:avLst/>
          </a:prstGeom>
          <a:noFill/>
          <a:ln/>
        </p:spPr>
        <p:txBody>
          <a:bodyPr wrap="square" lIns="0" tIns="0" rIns="0" bIns="0" rtlCol="0" anchor="ctr"/>
          <a:lstStyle/>
          <a:p>
            <a:pPr algn="ctr" indent="0" marL="0">
              <a:buNone/>
            </a:pPr>
            <a:r>
              <a:rPr lang="en-US" sz="2800" dirty="0">
                <a:solidFill>
                  <a:srgbClr val="0A0E1A"/>
                </a:solidFill>
                <a:latin typeface="Arial Black" pitchFamily="34" charset="0"/>
                <a:ea typeface="Arial Black" pitchFamily="34" charset="-122"/>
                <a:cs typeface="Arial Black" pitchFamily="34" charset="-120"/>
              </a:rPr>
              <a:t>50/50</a:t>
            </a:r>
            <a:endParaRPr lang="en-US" sz="2800" dirty="0"/>
          </a:p>
        </p:txBody>
      </p:sp>
      <p:sp>
        <p:nvSpPr>
          <p:cNvPr id="9" name="Text 7"/>
          <p:cNvSpPr/>
          <p:nvPr/>
        </p:nvSpPr>
        <p:spPr>
          <a:xfrm>
            <a:off x="2788920" y="2011680"/>
            <a:ext cx="187452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Net profit share</a:t>
            </a:r>
            <a:endParaRPr lang="en-US" sz="1000" dirty="0"/>
          </a:p>
        </p:txBody>
      </p:sp>
      <p:sp>
        <p:nvSpPr>
          <p:cNvPr id="10" name="Shape 8"/>
          <p:cNvSpPr/>
          <p:nvPr/>
        </p:nvSpPr>
        <p:spPr>
          <a:xfrm>
            <a:off x="4846320" y="1371600"/>
            <a:ext cx="1874520" cy="1097280"/>
          </a:xfrm>
          <a:prstGeom prst="rect">
            <a:avLst/>
          </a:prstGeom>
          <a:solidFill>
            <a:srgbClr val="F2F2F2"/>
          </a:solidFill>
          <a:ln/>
        </p:spPr>
      </p:sp>
      <p:sp>
        <p:nvSpPr>
          <p:cNvPr id="11" name="Text 9"/>
          <p:cNvSpPr/>
          <p:nvPr/>
        </p:nvSpPr>
        <p:spPr>
          <a:xfrm>
            <a:off x="4846320" y="1417320"/>
            <a:ext cx="1874520" cy="594360"/>
          </a:xfrm>
          <a:prstGeom prst="rect">
            <a:avLst/>
          </a:prstGeom>
          <a:noFill/>
          <a:ln/>
        </p:spPr>
        <p:txBody>
          <a:bodyPr wrap="square" lIns="0" tIns="0" rIns="0" bIns="0" rtlCol="0" anchor="ctr"/>
          <a:lstStyle/>
          <a:p>
            <a:pPr algn="ctr" indent="0" marL="0">
              <a:buNone/>
            </a:pPr>
            <a:r>
              <a:rPr lang="en-US" sz="2800" dirty="0">
                <a:solidFill>
                  <a:srgbClr val="0A0E1A"/>
                </a:solidFill>
                <a:latin typeface="Arial Black" pitchFamily="34" charset="0"/>
                <a:ea typeface="Arial Black" pitchFamily="34" charset="-122"/>
                <a:cs typeface="Arial Black" pitchFamily="34" charset="-120"/>
              </a:rPr>
              <a:t>24.2%</a:t>
            </a:r>
            <a:endParaRPr lang="en-US" sz="2800" dirty="0"/>
          </a:p>
        </p:txBody>
      </p:sp>
      <p:sp>
        <p:nvSpPr>
          <p:cNvPr id="12" name="Text 10"/>
          <p:cNvSpPr/>
          <p:nvPr/>
        </p:nvSpPr>
        <p:spPr>
          <a:xfrm>
            <a:off x="4846320" y="2011680"/>
            <a:ext cx="187452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Blended gross margin</a:t>
            </a:r>
            <a:endParaRPr lang="en-US" sz="1000" dirty="0"/>
          </a:p>
        </p:txBody>
      </p:sp>
      <p:sp>
        <p:nvSpPr>
          <p:cNvPr id="13" name="Shape 11"/>
          <p:cNvSpPr/>
          <p:nvPr/>
        </p:nvSpPr>
        <p:spPr>
          <a:xfrm>
            <a:off x="6903720" y="1371600"/>
            <a:ext cx="1874520" cy="1097280"/>
          </a:xfrm>
          <a:prstGeom prst="rect">
            <a:avLst/>
          </a:prstGeom>
          <a:solidFill>
            <a:srgbClr val="F2F2F2"/>
          </a:solidFill>
          <a:ln/>
        </p:spPr>
      </p:sp>
      <p:sp>
        <p:nvSpPr>
          <p:cNvPr id="14" name="Text 12"/>
          <p:cNvSpPr/>
          <p:nvPr/>
        </p:nvSpPr>
        <p:spPr>
          <a:xfrm>
            <a:off x="6903720" y="1417320"/>
            <a:ext cx="1874520" cy="594360"/>
          </a:xfrm>
          <a:prstGeom prst="rect">
            <a:avLst/>
          </a:prstGeom>
          <a:noFill/>
          <a:ln/>
        </p:spPr>
        <p:txBody>
          <a:bodyPr wrap="square" lIns="0" tIns="0" rIns="0" bIns="0" rtlCol="0" anchor="ctr"/>
          <a:lstStyle/>
          <a:p>
            <a:pPr algn="ctr" indent="0" marL="0">
              <a:buNone/>
            </a:pPr>
            <a:r>
              <a:rPr lang="en-US" sz="2800" dirty="0">
                <a:solidFill>
                  <a:srgbClr val="0A0E1A"/>
                </a:solidFill>
                <a:latin typeface="Arial Black" pitchFamily="34" charset="0"/>
                <a:ea typeface="Arial Black" pitchFamily="34" charset="-122"/>
                <a:cs typeface="Arial Black" pitchFamily="34" charset="-120"/>
              </a:rPr>
              <a:t>R127</a:t>
            </a:r>
            <a:endParaRPr lang="en-US" sz="2800" dirty="0"/>
          </a:p>
        </p:txBody>
      </p:sp>
      <p:sp>
        <p:nvSpPr>
          <p:cNvPr id="15" name="Text 13"/>
          <p:cNvSpPr/>
          <p:nvPr/>
        </p:nvSpPr>
        <p:spPr>
          <a:xfrm>
            <a:off x="6903720" y="2011680"/>
            <a:ext cx="187452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Blended ARPU (ex VAT)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7680960" cy="914400"/>
        </p:xfrm>
        <a:graphic>
          <a:graphicData uri="http://schemas.openxmlformats.org/drawingml/2006/table">
            <a:tbl>
              <a:tblPr/>
              <a:tblGrid>
                <a:gridCol w="4937760"/>
                <a:gridCol w="2743200"/>
              </a:tblGrid>
              <a:tr h="256032">
                <a:tc>
                  <a:txBody>
                    <a:bodyPr/>
                    <a:lstStyle/>
                    <a:p>
                      <a:pPr indent="0" marL="0">
                        <a:buNone/>
                      </a:pPr>
                      <a:r>
                        <a:rPr lang="en-US" sz="1000" b="1" dirty="0">
                          <a:solidFill>
                            <a:srgbClr val="FFFFFF"/>
                          </a:solidFill>
                          <a:latin typeface="Arial" pitchFamily="34" charset="0"/>
                          <a:ea typeface="Arial" pitchFamily="34" charset="-122"/>
                          <a:cs typeface="Arial" pitchFamily="34" charset="-120"/>
                        </a:rPr>
                        <a:t>Item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r>
              <a:tr h="256032">
                <a:tc>
                  <a:txBody>
                    <a:bodyPr/>
                    <a:lstStyle/>
                    <a:p>
                      <a:pPr indent="0" marL="0">
                        <a:buNone/>
                      </a:pPr>
                      <a:r>
                        <a:rPr lang="en-US" sz="1000" dirty="0">
                          <a:solidFill>
                            <a:srgbClr val="0A0E1A"/>
                          </a:solidFill>
                          <a:latin typeface="Arial" pitchFamily="34" charset="0"/>
                          <a:ea typeface="Arial" pitchFamily="34" charset="-122"/>
                          <a:cs typeface="Arial" pitchFamily="34" charset="-120"/>
                        </a:rPr>
                        <a:t>Blended ARPU</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R126.96</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dirty="0">
                          <a:solidFill>
                            <a:srgbClr val="0A0E1A"/>
                          </a:solidFill>
                          <a:latin typeface="Arial" pitchFamily="34" charset="0"/>
                          <a:ea typeface="Arial" pitchFamily="34" charset="-122"/>
                          <a:cs typeface="Arial" pitchFamily="34" charset="-120"/>
                        </a:rPr>
                        <a:t>Data wholesale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(R53.27)</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dirty="0">
                          <a:solidFill>
                            <a:srgbClr val="0A0E1A"/>
                          </a:solidFill>
                          <a:latin typeface="Arial" pitchFamily="34" charset="0"/>
                          <a:ea typeface="Arial" pitchFamily="34" charset="-122"/>
                          <a:cs typeface="Arial" pitchFamily="34" charset="-120"/>
                        </a:rPr>
                        <a:t>Voice wholesale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(R10.07)</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dirty="0">
                          <a:solidFill>
                            <a:srgbClr val="0A0E1A"/>
                          </a:solidFill>
                          <a:latin typeface="Arial" pitchFamily="34" charset="0"/>
                          <a:ea typeface="Arial" pitchFamily="34" charset="-122"/>
                          <a:cs typeface="Arial" pitchFamily="34" charset="-120"/>
                        </a:rPr>
                        <a:t>SMS wholesale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(R7.04)</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dirty="0">
                          <a:solidFill>
                            <a:srgbClr val="0A0E1A"/>
                          </a:solidFill>
                          <a:latin typeface="Arial" pitchFamily="34" charset="0"/>
                          <a:ea typeface="Arial" pitchFamily="34" charset="-122"/>
                          <a:cs typeface="Arial" pitchFamily="34" charset="-120"/>
                        </a:rPr>
                        <a:t>Zero-rated app data</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(R6.89)</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dirty="0">
                          <a:solidFill>
                            <a:srgbClr val="0A0E1A"/>
                          </a:solidFill>
                          <a:latin typeface="Arial" pitchFamily="34" charset="0"/>
                          <a:ea typeface="Arial" pitchFamily="34" charset="-122"/>
                          <a:cs typeface="Arial" pitchFamily="34" charset="-120"/>
                        </a:rPr>
                        <a:t>Trading reward data</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(R19.33)</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b="1" dirty="0">
                          <a:solidFill>
                            <a:srgbClr val="0A0E1A"/>
                          </a:solidFill>
                          <a:latin typeface="Arial" pitchFamily="34" charset="0"/>
                          <a:ea typeface="Arial" pitchFamily="34" charset="-122"/>
                          <a:cs typeface="Arial" pitchFamily="34" charset="-120"/>
                        </a:rPr>
                        <a:t>Total wholesale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A0E1A"/>
                          </a:solidFill>
                          <a:latin typeface="Arial" pitchFamily="34" charset="0"/>
                          <a:ea typeface="Arial" pitchFamily="34" charset="-122"/>
                          <a:cs typeface="Arial" pitchFamily="34" charset="-120"/>
                        </a:rPr>
                        <a:t>(R96.21)</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b="1" dirty="0">
                          <a:solidFill>
                            <a:srgbClr val="10B981"/>
                          </a:solidFill>
                          <a:latin typeface="Arial" pitchFamily="34" charset="0"/>
                          <a:ea typeface="Arial" pitchFamily="34" charset="-122"/>
                          <a:cs typeface="Arial" pitchFamily="34" charset="-120"/>
                        </a:rPr>
                        <a:t>Gross margin/sub</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R30.75</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1000" b="1" dirty="0">
                          <a:solidFill>
                            <a:srgbClr val="10B981"/>
                          </a:solidFill>
                          <a:latin typeface="Arial" pitchFamily="34" charset="0"/>
                          <a:ea typeface="Arial" pitchFamily="34" charset="-122"/>
                          <a:cs typeface="Arial" pitchFamily="34" charset="-120"/>
                        </a:rPr>
                        <a:t>Gross margin %</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24.2%</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5-YEAR PROJECTION</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Annualised P&amp;L — path to 300k subscribers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822960"/>
                <a:gridCol w="914400"/>
                <a:gridCol w="1097280"/>
                <a:gridCol w="1097280"/>
                <a:gridCol w="1097280"/>
                <a:gridCol w="1051560"/>
                <a:gridCol w="1051560"/>
                <a:gridCol w="1005840"/>
              </a:tblGrid>
              <a:tr h="365760">
                <a:tc>
                  <a:txBody>
                    <a:bodyPr/>
                    <a:lstStyle/>
                    <a:p>
                      <a:pPr indent="0" marL="0">
                        <a:buNone/>
                      </a:pPr>
                      <a:r>
                        <a:rPr lang="en-US" sz="1000" b="1" dirty="0">
                          <a:solidFill>
                            <a:srgbClr val="FFFFFF"/>
                          </a:solidFill>
                          <a:latin typeface="Arial" pitchFamily="34" charset="0"/>
                          <a:ea typeface="Arial" pitchFamily="34" charset="-122"/>
                          <a:cs typeface="Arial" pitchFamily="34" charset="-120"/>
                        </a:rPr>
                        <a:t>Year</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Subs</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Revenue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Wholesale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Gross Profit</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Platform Fee</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Net Profit</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Per Party</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0E1A"/>
                    </a:solidFill>
                  </a:tcPr>
                </a:tc>
              </a:tr>
              <a:tr h="365760">
                <a:tc>
                  <a:txBody>
                    <a:bodyPr/>
                    <a:lstStyle/>
                    <a:p>
                      <a:pPr indent="0" marL="0">
                        <a:buNone/>
                      </a:pPr>
                      <a:r>
                        <a:rPr lang="en-US" sz="1000" dirty="0">
                          <a:solidFill>
                            <a:srgbClr val="0A0E1A"/>
                          </a:solidFill>
                          <a:latin typeface="Arial" pitchFamily="34" charset="0"/>
                          <a:ea typeface="Arial" pitchFamily="34" charset="-122"/>
                          <a:cs typeface="Arial" pitchFamily="34" charset="-120"/>
                        </a:rPr>
                        <a:t>Year 1</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25,000</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R38.1M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R28.9M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R9.2M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R2.3M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R6.9M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R3.5M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A0E1A"/>
                          </a:solidFill>
                          <a:latin typeface="Arial" pitchFamily="34" charset="0"/>
                          <a:ea typeface="Arial" pitchFamily="34" charset="-122"/>
                          <a:cs typeface="Arial" pitchFamily="34" charset="-120"/>
                        </a:rPr>
                        <a:t>Year 2</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75,000</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R114.3M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R86.6M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R27.7M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R6.8M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R20.9M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R10.5M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A0E1A"/>
                          </a:solidFill>
                          <a:latin typeface="Arial" pitchFamily="34" charset="0"/>
                          <a:ea typeface="Arial" pitchFamily="34" charset="-122"/>
                          <a:cs typeface="Arial" pitchFamily="34" charset="-120"/>
                        </a:rPr>
                        <a:t>Year 3</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150,000</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R228.5M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R173.2M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R55.3M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R13.5M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R41.8M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R20.9M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A0E1A"/>
                          </a:solidFill>
                          <a:latin typeface="Arial" pitchFamily="34" charset="0"/>
                          <a:ea typeface="Arial" pitchFamily="34" charset="-122"/>
                          <a:cs typeface="Arial" pitchFamily="34" charset="-120"/>
                        </a:rPr>
                        <a:t>Year 4</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225,000</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R342.8M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R259.9M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R83.0M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R20.3M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R62.7M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R31.4M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A0E1A"/>
                          </a:solidFill>
                          <a:latin typeface="Arial" pitchFamily="34" charset="0"/>
                          <a:ea typeface="Arial" pitchFamily="34" charset="-122"/>
                          <a:cs typeface="Arial" pitchFamily="34" charset="-120"/>
                        </a:rPr>
                        <a:t>Year 5</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300,000</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R457.0M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R346.5M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R110.6M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A0E1A"/>
                          </a:solidFill>
                          <a:latin typeface="Arial" pitchFamily="34" charset="0"/>
                          <a:ea typeface="Arial" pitchFamily="34" charset="-122"/>
                          <a:cs typeface="Arial" pitchFamily="34" charset="-120"/>
                        </a:rPr>
                        <a:t>R27.0M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R83.6M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R41.8M</a:t>
                      </a:r>
                      <a:endParaRPr lang="en-US" sz="10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731520" y="3931920"/>
            <a:ext cx="7315200" cy="365760"/>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50/50 net profit split. SIM cost excluded (once-off). Platform fee R7.50/sub or R75k/mo floor.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94A3B8"/>
                </a:solidFill>
                <a:latin typeface="Arial" pitchFamily="34" charset="0"/>
                <a:ea typeface="Arial" pitchFamily="34" charset="-122"/>
                <a:cs typeface="Arial" pitchFamily="34" charset="-120"/>
              </a:rPr>
              <a:t>IMPLEMENTATION ROADMAP</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From signature to launch in 8 weeks.</a:t>
            </a:r>
            <a:endParaRPr lang="en-US" sz="2800" dirty="0"/>
          </a:p>
        </p:txBody>
      </p:sp>
      <p:sp>
        <p:nvSpPr>
          <p:cNvPr id="4" name="Shape 2"/>
          <p:cNvSpPr/>
          <p:nvPr/>
        </p:nvSpPr>
        <p:spPr>
          <a:xfrm>
            <a:off x="731520" y="1463040"/>
            <a:ext cx="1874520" cy="1371600"/>
          </a:xfrm>
          <a:prstGeom prst="rect">
            <a:avLst/>
          </a:prstGeom>
          <a:solidFill>
            <a:srgbClr val="1E293B"/>
          </a:solidFill>
          <a:ln/>
        </p:spPr>
      </p:sp>
      <p:sp>
        <p:nvSpPr>
          <p:cNvPr id="5" name="Text 3"/>
          <p:cNvSpPr/>
          <p:nvPr/>
        </p:nvSpPr>
        <p:spPr>
          <a:xfrm>
            <a:off x="822960" y="155448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W1</a:t>
            </a:r>
            <a:endParaRPr lang="en-US" sz="1400" dirty="0"/>
          </a:p>
        </p:txBody>
      </p:sp>
      <p:sp>
        <p:nvSpPr>
          <p:cNvPr id="6" name="Text 4"/>
          <p:cNvSpPr/>
          <p:nvPr/>
        </p:nvSpPr>
        <p:spPr>
          <a:xfrm>
            <a:off x="822960" y="192024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Project Kick-off</a:t>
            </a:r>
            <a:endParaRPr lang="en-US" sz="1200" dirty="0"/>
          </a:p>
        </p:txBody>
      </p:sp>
      <p:sp>
        <p:nvSpPr>
          <p:cNvPr id="7" name="Shape 5"/>
          <p:cNvSpPr/>
          <p:nvPr/>
        </p:nvSpPr>
        <p:spPr>
          <a:xfrm>
            <a:off x="2788920" y="1463040"/>
            <a:ext cx="1874520" cy="1371600"/>
          </a:xfrm>
          <a:prstGeom prst="rect">
            <a:avLst/>
          </a:prstGeom>
          <a:solidFill>
            <a:srgbClr val="1E293B"/>
          </a:solidFill>
          <a:ln/>
        </p:spPr>
      </p:sp>
      <p:sp>
        <p:nvSpPr>
          <p:cNvPr id="8" name="Text 6"/>
          <p:cNvSpPr/>
          <p:nvPr/>
        </p:nvSpPr>
        <p:spPr>
          <a:xfrm>
            <a:off x="2880360" y="155448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W2</a:t>
            </a:r>
            <a:endParaRPr lang="en-US" sz="1400" dirty="0"/>
          </a:p>
        </p:txBody>
      </p:sp>
      <p:sp>
        <p:nvSpPr>
          <p:cNvPr id="9" name="Text 7"/>
          <p:cNvSpPr/>
          <p:nvPr/>
        </p:nvSpPr>
        <p:spPr>
          <a:xfrm>
            <a:off x="2880360" y="192024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Requirements &amp; Design</a:t>
            </a:r>
            <a:endParaRPr lang="en-US" sz="1200" dirty="0"/>
          </a:p>
        </p:txBody>
      </p:sp>
      <p:sp>
        <p:nvSpPr>
          <p:cNvPr id="10" name="Shape 8"/>
          <p:cNvSpPr/>
          <p:nvPr/>
        </p:nvSpPr>
        <p:spPr>
          <a:xfrm>
            <a:off x="4846320" y="1463040"/>
            <a:ext cx="1874520" cy="1371600"/>
          </a:xfrm>
          <a:prstGeom prst="rect">
            <a:avLst/>
          </a:prstGeom>
          <a:solidFill>
            <a:srgbClr val="1E293B"/>
          </a:solidFill>
          <a:ln/>
        </p:spPr>
      </p:sp>
      <p:sp>
        <p:nvSpPr>
          <p:cNvPr id="11" name="Text 9"/>
          <p:cNvSpPr/>
          <p:nvPr/>
        </p:nvSpPr>
        <p:spPr>
          <a:xfrm>
            <a:off x="4937760" y="155448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W3</a:t>
            </a:r>
            <a:endParaRPr lang="en-US" sz="1400" dirty="0"/>
          </a:p>
        </p:txBody>
      </p:sp>
      <p:sp>
        <p:nvSpPr>
          <p:cNvPr id="12" name="Text 10"/>
          <p:cNvSpPr/>
          <p:nvPr/>
        </p:nvSpPr>
        <p:spPr>
          <a:xfrm>
            <a:off x="4937760" y="192024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Platform Configuration</a:t>
            </a:r>
            <a:endParaRPr lang="en-US" sz="1200" dirty="0"/>
          </a:p>
        </p:txBody>
      </p:sp>
      <p:sp>
        <p:nvSpPr>
          <p:cNvPr id="13" name="Shape 11"/>
          <p:cNvSpPr/>
          <p:nvPr/>
        </p:nvSpPr>
        <p:spPr>
          <a:xfrm>
            <a:off x="6903720" y="1463040"/>
            <a:ext cx="1874520" cy="1371600"/>
          </a:xfrm>
          <a:prstGeom prst="rect">
            <a:avLst/>
          </a:prstGeom>
          <a:solidFill>
            <a:srgbClr val="1E293B"/>
          </a:solidFill>
          <a:ln/>
        </p:spPr>
      </p:sp>
      <p:sp>
        <p:nvSpPr>
          <p:cNvPr id="14" name="Text 12"/>
          <p:cNvSpPr/>
          <p:nvPr/>
        </p:nvSpPr>
        <p:spPr>
          <a:xfrm>
            <a:off x="6995160" y="155448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W4</a:t>
            </a:r>
            <a:endParaRPr lang="en-US" sz="1400" dirty="0"/>
          </a:p>
        </p:txBody>
      </p:sp>
      <p:sp>
        <p:nvSpPr>
          <p:cNvPr id="15" name="Text 13"/>
          <p:cNvSpPr/>
          <p:nvPr/>
        </p:nvSpPr>
        <p:spPr>
          <a:xfrm>
            <a:off x="6995160" y="192024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Testing &amp; UAT</a:t>
            </a:r>
            <a:endParaRPr lang="en-US" sz="1200" dirty="0"/>
          </a:p>
        </p:txBody>
      </p:sp>
      <p:sp>
        <p:nvSpPr>
          <p:cNvPr id="16" name="Shape 14"/>
          <p:cNvSpPr/>
          <p:nvPr/>
        </p:nvSpPr>
        <p:spPr>
          <a:xfrm>
            <a:off x="731520" y="3108960"/>
            <a:ext cx="1874520" cy="1371600"/>
          </a:xfrm>
          <a:prstGeom prst="rect">
            <a:avLst/>
          </a:prstGeom>
          <a:solidFill>
            <a:srgbClr val="1E293B"/>
          </a:solidFill>
          <a:ln/>
        </p:spPr>
      </p:sp>
      <p:sp>
        <p:nvSpPr>
          <p:cNvPr id="17" name="Text 15"/>
          <p:cNvSpPr/>
          <p:nvPr/>
        </p:nvSpPr>
        <p:spPr>
          <a:xfrm>
            <a:off x="822960" y="320040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W5</a:t>
            </a:r>
            <a:endParaRPr lang="en-US" sz="1400" dirty="0"/>
          </a:p>
        </p:txBody>
      </p:sp>
      <p:sp>
        <p:nvSpPr>
          <p:cNvPr id="18" name="Text 16"/>
          <p:cNvSpPr/>
          <p:nvPr/>
        </p:nvSpPr>
        <p:spPr>
          <a:xfrm>
            <a:off x="822960" y="356616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Training &amp; Onboarding</a:t>
            </a:r>
            <a:endParaRPr lang="en-US" sz="1200" dirty="0"/>
          </a:p>
        </p:txBody>
      </p:sp>
      <p:sp>
        <p:nvSpPr>
          <p:cNvPr id="19" name="Shape 17"/>
          <p:cNvSpPr/>
          <p:nvPr/>
        </p:nvSpPr>
        <p:spPr>
          <a:xfrm>
            <a:off x="2788920" y="3108960"/>
            <a:ext cx="1874520" cy="1371600"/>
          </a:xfrm>
          <a:prstGeom prst="rect">
            <a:avLst/>
          </a:prstGeom>
          <a:solidFill>
            <a:srgbClr val="1E293B"/>
          </a:solidFill>
          <a:ln/>
        </p:spPr>
      </p:sp>
      <p:sp>
        <p:nvSpPr>
          <p:cNvPr id="20" name="Text 18"/>
          <p:cNvSpPr/>
          <p:nvPr/>
        </p:nvSpPr>
        <p:spPr>
          <a:xfrm>
            <a:off x="2880360" y="320040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W6</a:t>
            </a:r>
            <a:endParaRPr lang="en-US" sz="1400" dirty="0"/>
          </a:p>
        </p:txBody>
      </p:sp>
      <p:sp>
        <p:nvSpPr>
          <p:cNvPr id="21" name="Text 19"/>
          <p:cNvSpPr/>
          <p:nvPr/>
        </p:nvSpPr>
        <p:spPr>
          <a:xfrm>
            <a:off x="2880360" y="356616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Go-Live Preparation</a:t>
            </a:r>
            <a:endParaRPr lang="en-US" sz="1200" dirty="0"/>
          </a:p>
        </p:txBody>
      </p:sp>
      <p:sp>
        <p:nvSpPr>
          <p:cNvPr id="22" name="Shape 20"/>
          <p:cNvSpPr/>
          <p:nvPr/>
        </p:nvSpPr>
        <p:spPr>
          <a:xfrm>
            <a:off x="4846320" y="3108960"/>
            <a:ext cx="1874520" cy="1371600"/>
          </a:xfrm>
          <a:prstGeom prst="rect">
            <a:avLst/>
          </a:prstGeom>
          <a:solidFill>
            <a:srgbClr val="1E293B"/>
          </a:solidFill>
          <a:ln/>
        </p:spPr>
      </p:sp>
      <p:sp>
        <p:nvSpPr>
          <p:cNvPr id="23" name="Text 21"/>
          <p:cNvSpPr/>
          <p:nvPr/>
        </p:nvSpPr>
        <p:spPr>
          <a:xfrm>
            <a:off x="4937760" y="320040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W7</a:t>
            </a:r>
            <a:endParaRPr lang="en-US" sz="1400" dirty="0"/>
          </a:p>
        </p:txBody>
      </p:sp>
      <p:sp>
        <p:nvSpPr>
          <p:cNvPr id="24" name="Text 22"/>
          <p:cNvSpPr/>
          <p:nvPr/>
        </p:nvSpPr>
        <p:spPr>
          <a:xfrm>
            <a:off x="4937760" y="356616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Service Launch</a:t>
            </a:r>
            <a:endParaRPr lang="en-US" sz="1200" dirty="0"/>
          </a:p>
        </p:txBody>
      </p:sp>
      <p:sp>
        <p:nvSpPr>
          <p:cNvPr id="25" name="Shape 23"/>
          <p:cNvSpPr/>
          <p:nvPr/>
        </p:nvSpPr>
        <p:spPr>
          <a:xfrm>
            <a:off x="6903720" y="3108960"/>
            <a:ext cx="1874520" cy="1371600"/>
          </a:xfrm>
          <a:prstGeom prst="rect">
            <a:avLst/>
          </a:prstGeom>
          <a:solidFill>
            <a:srgbClr val="1E293B"/>
          </a:solidFill>
          <a:ln/>
        </p:spPr>
      </p:sp>
      <p:sp>
        <p:nvSpPr>
          <p:cNvPr id="26" name="Text 24"/>
          <p:cNvSpPr/>
          <p:nvPr/>
        </p:nvSpPr>
        <p:spPr>
          <a:xfrm>
            <a:off x="6995160" y="3200400"/>
            <a:ext cx="457200" cy="32004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W8</a:t>
            </a:r>
            <a:endParaRPr lang="en-US" sz="1400" dirty="0"/>
          </a:p>
        </p:txBody>
      </p:sp>
      <p:sp>
        <p:nvSpPr>
          <p:cNvPr id="27" name="Text 25"/>
          <p:cNvSpPr/>
          <p:nvPr/>
        </p:nvSpPr>
        <p:spPr>
          <a:xfrm>
            <a:off x="6995160" y="3566160"/>
            <a:ext cx="169164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Operate &amp; Optimise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Arial" pitchFamily="34" charset="0"/>
                <a:ea typeface="Arial" pitchFamily="34" charset="-122"/>
                <a:cs typeface="Arial" pitchFamily="34" charset="-120"/>
              </a:rPr>
              <a:t>THE DSG DIFFERENCE</a:t>
            </a:r>
            <a:endParaRPr lang="en-US" sz="900" dirty="0"/>
          </a:p>
        </p:txBody>
      </p:sp>
      <p:sp>
        <p:nvSpPr>
          <p:cNvPr id="3" name="Text 1"/>
          <p:cNvSpPr/>
          <p:nvPr/>
        </p:nvSpPr>
        <p:spPr>
          <a:xfrm>
            <a:off x="731520" y="640080"/>
            <a:ext cx="7315200" cy="548640"/>
          </a:xfrm>
          <a:prstGeom prst="rect">
            <a:avLst/>
          </a:prstGeom>
          <a:noFill/>
          <a:ln/>
        </p:spPr>
        <p:txBody>
          <a:bodyPr wrap="square" lIns="0" tIns="0" rIns="0" bIns="0" rtlCol="0" anchor="ctr"/>
          <a:lstStyle/>
          <a:p>
            <a:pPr indent="0" marL="0">
              <a:buNone/>
            </a:pPr>
            <a:r>
              <a:rPr lang="en-US" sz="2800" b="1" dirty="0">
                <a:solidFill>
                  <a:srgbClr val="0A0E1A"/>
                </a:solidFill>
                <a:latin typeface="Arial" pitchFamily="34" charset="0"/>
                <a:ea typeface="Arial" pitchFamily="34" charset="-122"/>
                <a:cs typeface="Arial" pitchFamily="34" charset="-120"/>
              </a:rPr>
              <a:t>A full ecosystem behind the MVNO</a:t>
            </a:r>
            <a:endParaRPr lang="en-US" sz="2800" dirty="0"/>
          </a:p>
        </p:txBody>
      </p:sp>
      <p:sp>
        <p:nvSpPr>
          <p:cNvPr id="4" name="Shape 2"/>
          <p:cNvSpPr/>
          <p:nvPr/>
        </p:nvSpPr>
        <p:spPr>
          <a:xfrm>
            <a:off x="731520" y="1371600"/>
            <a:ext cx="2560320" cy="1097280"/>
          </a:xfrm>
          <a:prstGeom prst="rect">
            <a:avLst/>
          </a:prstGeom>
          <a:solidFill>
            <a:srgbClr val="F2F2F2"/>
          </a:solidFill>
          <a:ln/>
        </p:spPr>
      </p:sp>
      <p:sp>
        <p:nvSpPr>
          <p:cNvPr id="5" name="Text 3"/>
          <p:cNvSpPr/>
          <p:nvPr/>
        </p:nvSpPr>
        <p:spPr>
          <a:xfrm>
            <a:off x="868680" y="1463040"/>
            <a:ext cx="2286000" cy="320040"/>
          </a:xfrm>
          <a:prstGeom prst="rect">
            <a:avLst/>
          </a:prstGeom>
          <a:noFill/>
          <a:ln/>
        </p:spPr>
        <p:txBody>
          <a:bodyPr wrap="square" lIns="0" tIns="0" rIns="0" bIns="0" rtlCol="0" anchor="ctr"/>
          <a:lstStyle/>
          <a:p>
            <a:pPr indent="0" marL="0">
              <a:buNone/>
            </a:pPr>
            <a:r>
              <a:rPr lang="en-US" sz="1400" b="1" dirty="0">
                <a:solidFill>
                  <a:srgbClr val="0A0E1A"/>
                </a:solidFill>
                <a:latin typeface="Arial" pitchFamily="34" charset="0"/>
                <a:ea typeface="Arial" pitchFamily="34" charset="-122"/>
                <a:cs typeface="Arial" pitchFamily="34" charset="-120"/>
              </a:rPr>
              <a:t>MVNE</a:t>
            </a:r>
            <a:endParaRPr lang="en-US" sz="1400" dirty="0"/>
          </a:p>
        </p:txBody>
      </p:sp>
      <p:sp>
        <p:nvSpPr>
          <p:cNvPr id="6" name="Text 4"/>
          <p:cNvSpPr/>
          <p:nvPr/>
        </p:nvSpPr>
        <p:spPr>
          <a:xfrm>
            <a:off x="868680" y="182880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SIM provisioning, billing, VAS</a:t>
            </a:r>
            <a:endParaRPr lang="en-US" sz="1000" dirty="0"/>
          </a:p>
        </p:txBody>
      </p:sp>
      <p:sp>
        <p:nvSpPr>
          <p:cNvPr id="7" name="Shape 5"/>
          <p:cNvSpPr/>
          <p:nvPr/>
        </p:nvSpPr>
        <p:spPr>
          <a:xfrm>
            <a:off x="3474720" y="1371600"/>
            <a:ext cx="2560320" cy="1097280"/>
          </a:xfrm>
          <a:prstGeom prst="rect">
            <a:avLst/>
          </a:prstGeom>
          <a:solidFill>
            <a:srgbClr val="F2F2F2"/>
          </a:solidFill>
          <a:ln/>
        </p:spPr>
      </p:sp>
      <p:sp>
        <p:nvSpPr>
          <p:cNvPr id="8" name="Text 6"/>
          <p:cNvSpPr/>
          <p:nvPr/>
        </p:nvSpPr>
        <p:spPr>
          <a:xfrm>
            <a:off x="3611880" y="1463040"/>
            <a:ext cx="2286000" cy="320040"/>
          </a:xfrm>
          <a:prstGeom prst="rect">
            <a:avLst/>
          </a:prstGeom>
          <a:noFill/>
          <a:ln/>
        </p:spPr>
        <p:txBody>
          <a:bodyPr wrap="square" lIns="0" tIns="0" rIns="0" bIns="0" rtlCol="0" anchor="ctr"/>
          <a:lstStyle/>
          <a:p>
            <a:pPr indent="0" marL="0">
              <a:buNone/>
            </a:pPr>
            <a:r>
              <a:rPr lang="en-US" sz="1400" b="1" dirty="0">
                <a:solidFill>
                  <a:srgbClr val="0A0E1A"/>
                </a:solidFill>
                <a:latin typeface="Arial" pitchFamily="34" charset="0"/>
                <a:ea typeface="Arial" pitchFamily="34" charset="-122"/>
                <a:cs typeface="Arial" pitchFamily="34" charset="-120"/>
              </a:rPr>
              <a:t>CXG</a:t>
            </a:r>
            <a:endParaRPr lang="en-US" sz="1400" dirty="0"/>
          </a:p>
        </p:txBody>
      </p:sp>
      <p:sp>
        <p:nvSpPr>
          <p:cNvPr id="9" name="Text 7"/>
          <p:cNvSpPr/>
          <p:nvPr/>
        </p:nvSpPr>
        <p:spPr>
          <a:xfrm>
            <a:off x="3611880" y="182880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Contact centre, onboarding, retention</a:t>
            </a:r>
            <a:endParaRPr lang="en-US" sz="1000" dirty="0"/>
          </a:p>
        </p:txBody>
      </p:sp>
      <p:sp>
        <p:nvSpPr>
          <p:cNvPr id="10" name="Shape 8"/>
          <p:cNvSpPr/>
          <p:nvPr/>
        </p:nvSpPr>
        <p:spPr>
          <a:xfrm>
            <a:off x="6217920" y="1371600"/>
            <a:ext cx="2560320" cy="1097280"/>
          </a:xfrm>
          <a:prstGeom prst="rect">
            <a:avLst/>
          </a:prstGeom>
          <a:solidFill>
            <a:srgbClr val="F2F2F2"/>
          </a:solidFill>
          <a:ln/>
        </p:spPr>
      </p:sp>
      <p:sp>
        <p:nvSpPr>
          <p:cNvPr id="11" name="Text 9"/>
          <p:cNvSpPr/>
          <p:nvPr/>
        </p:nvSpPr>
        <p:spPr>
          <a:xfrm>
            <a:off x="6355080" y="1463040"/>
            <a:ext cx="2286000" cy="320040"/>
          </a:xfrm>
          <a:prstGeom prst="rect">
            <a:avLst/>
          </a:prstGeom>
          <a:noFill/>
          <a:ln/>
        </p:spPr>
        <p:txBody>
          <a:bodyPr wrap="square" lIns="0" tIns="0" rIns="0" bIns="0" rtlCol="0" anchor="ctr"/>
          <a:lstStyle/>
          <a:p>
            <a:pPr indent="0" marL="0">
              <a:buNone/>
            </a:pPr>
            <a:r>
              <a:rPr lang="en-US" sz="1400" b="1" dirty="0">
                <a:solidFill>
                  <a:srgbClr val="0A0E1A"/>
                </a:solidFill>
                <a:latin typeface="Arial" pitchFamily="34" charset="0"/>
                <a:ea typeface="Arial" pitchFamily="34" charset="-122"/>
                <a:cs typeface="Arial" pitchFamily="34" charset="-120"/>
              </a:rPr>
              <a:t>Broadbrand</a:t>
            </a:r>
            <a:endParaRPr lang="en-US" sz="1400" dirty="0"/>
          </a:p>
        </p:txBody>
      </p:sp>
      <p:sp>
        <p:nvSpPr>
          <p:cNvPr id="12" name="Text 10"/>
          <p:cNvSpPr/>
          <p:nvPr/>
        </p:nvSpPr>
        <p:spPr>
          <a:xfrm>
            <a:off x="6355080" y="182880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CVM, churn defence, marketing</a:t>
            </a:r>
            <a:endParaRPr lang="en-US" sz="1000" dirty="0"/>
          </a:p>
        </p:txBody>
      </p:sp>
      <p:sp>
        <p:nvSpPr>
          <p:cNvPr id="13" name="Shape 11"/>
          <p:cNvSpPr/>
          <p:nvPr/>
        </p:nvSpPr>
        <p:spPr>
          <a:xfrm>
            <a:off x="731520" y="2743200"/>
            <a:ext cx="2560320" cy="1097280"/>
          </a:xfrm>
          <a:prstGeom prst="rect">
            <a:avLst/>
          </a:prstGeom>
          <a:solidFill>
            <a:srgbClr val="F2F2F2"/>
          </a:solidFill>
          <a:ln/>
        </p:spPr>
      </p:sp>
      <p:sp>
        <p:nvSpPr>
          <p:cNvPr id="14" name="Text 12"/>
          <p:cNvSpPr/>
          <p:nvPr/>
        </p:nvSpPr>
        <p:spPr>
          <a:xfrm>
            <a:off x="868680" y="2834640"/>
            <a:ext cx="2286000" cy="320040"/>
          </a:xfrm>
          <a:prstGeom prst="rect">
            <a:avLst/>
          </a:prstGeom>
          <a:noFill/>
          <a:ln/>
        </p:spPr>
        <p:txBody>
          <a:bodyPr wrap="square" lIns="0" tIns="0" rIns="0" bIns="0" rtlCol="0" anchor="ctr"/>
          <a:lstStyle/>
          <a:p>
            <a:pPr indent="0" marL="0">
              <a:buNone/>
            </a:pPr>
            <a:r>
              <a:rPr lang="en-US" sz="1400" b="1" dirty="0">
                <a:solidFill>
                  <a:srgbClr val="0A0E1A"/>
                </a:solidFill>
                <a:latin typeface="Arial" pitchFamily="34" charset="0"/>
                <a:ea typeface="Arial" pitchFamily="34" charset="-122"/>
                <a:cs typeface="Arial" pitchFamily="34" charset="-120"/>
              </a:rPr>
              <a:t>Digital Resilience</a:t>
            </a:r>
            <a:endParaRPr lang="en-US" sz="1400" dirty="0"/>
          </a:p>
        </p:txBody>
      </p:sp>
      <p:sp>
        <p:nvSpPr>
          <p:cNvPr id="15" name="Text 13"/>
          <p:cNvSpPr/>
          <p:nvPr/>
        </p:nvSpPr>
        <p:spPr>
          <a:xfrm>
            <a:off x="868680" y="320040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Cybersecurity, identity protection</a:t>
            </a:r>
            <a:endParaRPr lang="en-US" sz="1000" dirty="0"/>
          </a:p>
        </p:txBody>
      </p:sp>
      <p:sp>
        <p:nvSpPr>
          <p:cNvPr id="16" name="Shape 14"/>
          <p:cNvSpPr/>
          <p:nvPr/>
        </p:nvSpPr>
        <p:spPr>
          <a:xfrm>
            <a:off x="3474720" y="2743200"/>
            <a:ext cx="2560320" cy="1097280"/>
          </a:xfrm>
          <a:prstGeom prst="rect">
            <a:avLst/>
          </a:prstGeom>
          <a:solidFill>
            <a:srgbClr val="F2F2F2"/>
          </a:solidFill>
          <a:ln/>
        </p:spPr>
      </p:sp>
      <p:sp>
        <p:nvSpPr>
          <p:cNvPr id="17" name="Text 15"/>
          <p:cNvSpPr/>
          <p:nvPr/>
        </p:nvSpPr>
        <p:spPr>
          <a:xfrm>
            <a:off x="3611880" y="2834640"/>
            <a:ext cx="2286000" cy="320040"/>
          </a:xfrm>
          <a:prstGeom prst="rect">
            <a:avLst/>
          </a:prstGeom>
          <a:noFill/>
          <a:ln/>
        </p:spPr>
        <p:txBody>
          <a:bodyPr wrap="square" lIns="0" tIns="0" rIns="0" bIns="0" rtlCol="0" anchor="ctr"/>
          <a:lstStyle/>
          <a:p>
            <a:pPr indent="0" marL="0">
              <a:buNone/>
            </a:pPr>
            <a:r>
              <a:rPr lang="en-US" sz="1400" b="1" dirty="0">
                <a:solidFill>
                  <a:srgbClr val="0A0E1A"/>
                </a:solidFill>
                <a:latin typeface="Arial" pitchFamily="34" charset="0"/>
                <a:ea typeface="Arial" pitchFamily="34" charset="-122"/>
                <a:cs typeface="Arial" pitchFamily="34" charset="-120"/>
              </a:rPr>
              <a:t>eInsurer</a:t>
            </a:r>
            <a:endParaRPr lang="en-US" sz="1400" dirty="0"/>
          </a:p>
        </p:txBody>
      </p:sp>
      <p:sp>
        <p:nvSpPr>
          <p:cNvPr id="18" name="Text 16"/>
          <p:cNvSpPr/>
          <p:nvPr/>
        </p:nvSpPr>
        <p:spPr>
          <a:xfrm>
            <a:off x="3611880" y="320040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Micro-insurance, embedded products</a:t>
            </a:r>
            <a:endParaRPr lang="en-US" sz="1000" dirty="0"/>
          </a:p>
        </p:txBody>
      </p:sp>
      <p:sp>
        <p:nvSpPr>
          <p:cNvPr id="19" name="Shape 17"/>
          <p:cNvSpPr/>
          <p:nvPr/>
        </p:nvSpPr>
        <p:spPr>
          <a:xfrm>
            <a:off x="6217920" y="2743200"/>
            <a:ext cx="2560320" cy="1097280"/>
          </a:xfrm>
          <a:prstGeom prst="rect">
            <a:avLst/>
          </a:prstGeom>
          <a:solidFill>
            <a:srgbClr val="F2F2F2"/>
          </a:solidFill>
          <a:ln/>
        </p:spPr>
      </p:sp>
      <p:sp>
        <p:nvSpPr>
          <p:cNvPr id="20" name="Text 18"/>
          <p:cNvSpPr/>
          <p:nvPr/>
        </p:nvSpPr>
        <p:spPr>
          <a:xfrm>
            <a:off x="6355080" y="2834640"/>
            <a:ext cx="2286000" cy="320040"/>
          </a:xfrm>
          <a:prstGeom prst="rect">
            <a:avLst/>
          </a:prstGeom>
          <a:noFill/>
          <a:ln/>
        </p:spPr>
        <p:txBody>
          <a:bodyPr wrap="square" lIns="0" tIns="0" rIns="0" bIns="0" rtlCol="0" anchor="ctr"/>
          <a:lstStyle/>
          <a:p>
            <a:pPr indent="0" marL="0">
              <a:buNone/>
            </a:pPr>
            <a:r>
              <a:rPr lang="en-US" sz="1400" b="1" dirty="0">
                <a:solidFill>
                  <a:srgbClr val="0A0E1A"/>
                </a:solidFill>
                <a:latin typeface="Arial" pitchFamily="34" charset="0"/>
                <a:ea typeface="Arial" pitchFamily="34" charset="-122"/>
                <a:cs typeface="Arial" pitchFamily="34" charset="-120"/>
              </a:rPr>
              <a:t>PersAIc</a:t>
            </a:r>
            <a:endParaRPr lang="en-US" sz="1400" dirty="0"/>
          </a:p>
        </p:txBody>
      </p:sp>
      <p:sp>
        <p:nvSpPr>
          <p:cNvPr id="21" name="Text 19"/>
          <p:cNvSpPr/>
          <p:nvPr/>
        </p:nvSpPr>
        <p:spPr>
          <a:xfrm>
            <a:off x="6355080" y="3200400"/>
            <a:ext cx="2286000" cy="45720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AI segmentation, personalisation</a:t>
            </a:r>
            <a:endParaRPr lang="en-US" sz="1000" dirty="0"/>
          </a:p>
        </p:txBody>
      </p:sp>
      <p:sp>
        <p:nvSpPr>
          <p:cNvPr id="22" name="Text 20"/>
          <p:cNvSpPr/>
          <p:nvPr/>
        </p:nvSpPr>
        <p:spPr>
          <a:xfrm>
            <a:off x="731520" y="4297680"/>
            <a:ext cx="7680960" cy="36576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Technology Partners: MTN · NetEngage · Globetom · Flolive · Lumine Group · Pharos Avantgard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900" b="1" spc="400" kern="0" dirty="0">
                <a:solidFill>
                  <a:srgbClr val="94A3B8"/>
                </a:solidFill>
                <a:latin typeface="Arial" pitchFamily="34" charset="0"/>
                <a:ea typeface="Arial" pitchFamily="34" charset="-122"/>
                <a:cs typeface="Arial" pitchFamily="34" charset="-120"/>
              </a:rPr>
              <a:t>NEXT STEPS</a:t>
            </a:r>
            <a:endParaRPr lang="en-US" sz="900" dirty="0"/>
          </a:p>
        </p:txBody>
      </p:sp>
      <p:sp>
        <p:nvSpPr>
          <p:cNvPr id="3" name="Text 1"/>
          <p:cNvSpPr/>
          <p:nvPr/>
        </p:nvSpPr>
        <p:spPr>
          <a:xfrm>
            <a:off x="731520" y="731520"/>
            <a:ext cx="7315200" cy="10972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Ready to build Africa's first</a:t>
            </a:r>
            <a:endParaRPr lang="en-US" sz="3200" dirty="0"/>
          </a:p>
          <a:p>
            <a:pPr indent="0" marL="0">
              <a:buNone/>
            </a:pPr>
            <a:r>
              <a:rPr lang="en-US" sz="3200" b="1" dirty="0">
                <a:solidFill>
                  <a:srgbClr val="FFFFFF"/>
                </a:solidFill>
                <a:latin typeface="Arial" pitchFamily="34" charset="0"/>
                <a:ea typeface="Arial" pitchFamily="34" charset="-122"/>
                <a:cs typeface="Arial" pitchFamily="34" charset="-120"/>
              </a:rPr>
              <a:t>fintech-led MVNO?</a:t>
            </a:r>
            <a:endParaRPr lang="en-US" sz="3200" dirty="0"/>
          </a:p>
        </p:txBody>
      </p:sp>
      <p:sp>
        <p:nvSpPr>
          <p:cNvPr id="4" name="Text 2"/>
          <p:cNvSpPr/>
          <p:nvPr/>
        </p:nvSpPr>
        <p:spPr>
          <a:xfrm>
            <a:off x="731520" y="210312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1.  SA entity formation and regulatory engagement (ICASA)</a:t>
            </a:r>
            <a:endParaRPr lang="en-US" sz="1100" dirty="0"/>
          </a:p>
        </p:txBody>
      </p:sp>
      <p:sp>
        <p:nvSpPr>
          <p:cNvPr id="5" name="Text 3"/>
          <p:cNvSpPr/>
          <p:nvPr/>
        </p:nvSpPr>
        <p:spPr>
          <a:xfrm>
            <a:off x="731520" y="242316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2.  MNO host commercial arrangement (Cell C or MTN)</a:t>
            </a:r>
            <a:endParaRPr lang="en-US" sz="1100" dirty="0"/>
          </a:p>
        </p:txBody>
      </p:sp>
      <p:sp>
        <p:nvSpPr>
          <p:cNvPr id="6" name="Text 4"/>
          <p:cNvSpPr/>
          <p:nvPr/>
        </p:nvSpPr>
        <p:spPr>
          <a:xfrm>
            <a:off x="731520" y="274320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3.  Bitexen platform API integration specification</a:t>
            </a:r>
            <a:endParaRPr lang="en-US" sz="1100" dirty="0"/>
          </a:p>
        </p:txBody>
      </p:sp>
      <p:sp>
        <p:nvSpPr>
          <p:cNvPr id="7" name="Text 5"/>
          <p:cNvSpPr/>
          <p:nvPr/>
        </p:nvSpPr>
        <p:spPr>
          <a:xfrm>
            <a:off x="731520" y="306324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4.  Tiered product architecture definition</a:t>
            </a:r>
            <a:endParaRPr lang="en-US" sz="1100" dirty="0"/>
          </a:p>
        </p:txBody>
      </p:sp>
      <p:sp>
        <p:nvSpPr>
          <p:cNvPr id="8" name="Text 6"/>
          <p:cNvSpPr/>
          <p:nvPr/>
        </p:nvSpPr>
        <p:spPr>
          <a:xfrm>
            <a:off x="731520" y="338328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5.  App and customer experience design</a:t>
            </a:r>
            <a:endParaRPr lang="en-US" sz="1100" dirty="0"/>
          </a:p>
        </p:txBody>
      </p:sp>
      <p:sp>
        <p:nvSpPr>
          <p:cNvPr id="9" name="Text 7"/>
          <p:cNvSpPr/>
          <p:nvPr/>
        </p:nvSpPr>
        <p:spPr>
          <a:xfrm>
            <a:off x="731520" y="370332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6.  Go-to-market by segment</a:t>
            </a:r>
            <a:endParaRPr lang="en-US" sz="1100" dirty="0"/>
          </a:p>
        </p:txBody>
      </p:sp>
      <p:sp>
        <p:nvSpPr>
          <p:cNvPr id="10" name="Text 8"/>
          <p:cNvSpPr/>
          <p:nvPr/>
        </p:nvSpPr>
        <p:spPr>
          <a:xfrm>
            <a:off x="731520" y="4023360"/>
            <a:ext cx="73152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7.  Crypto rewards programme design and compliance review</a:t>
            </a:r>
            <a:endParaRPr lang="en-US" sz="1100" dirty="0"/>
          </a:p>
        </p:txBody>
      </p:sp>
      <p:sp>
        <p:nvSpPr>
          <p:cNvPr id="11" name="Text 9"/>
          <p:cNvSpPr/>
          <p:nvPr/>
        </p:nvSpPr>
        <p:spPr>
          <a:xfrm>
            <a:off x="731520" y="4572000"/>
            <a:ext cx="3657600" cy="274320"/>
          </a:xfrm>
          <a:prstGeom prst="rect">
            <a:avLst/>
          </a:prstGeom>
          <a:noFill/>
          <a:ln/>
        </p:spPr>
        <p:txBody>
          <a:bodyPr wrap="square" lIns="0" tIns="0" rIns="0" bIns="0" rtlCol="0" anchor="ctr"/>
          <a:lstStyle/>
          <a:p>
            <a:pPr indent="0" marL="0">
              <a:buNone/>
            </a:pPr>
            <a:r>
              <a:rPr lang="en-US" sz="1100" b="1" dirty="0">
                <a:solidFill>
                  <a:srgbClr val="0EA5E9"/>
                </a:solidFill>
                <a:latin typeface="Arial" pitchFamily="34" charset="0"/>
                <a:ea typeface="Arial" pitchFamily="34" charset="-122"/>
                <a:cs typeface="Arial" pitchFamily="34" charset="-120"/>
              </a:rPr>
              <a:t>Contact: edwardw@mvne.co.za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731520" y="1645920"/>
            <a:ext cx="731520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Confidential</a:t>
            </a:r>
            <a:endParaRPr lang="en-US" sz="3600" dirty="0"/>
          </a:p>
        </p:txBody>
      </p:sp>
      <p:sp>
        <p:nvSpPr>
          <p:cNvPr id="3" name="Shape 1"/>
          <p:cNvSpPr/>
          <p:nvPr/>
        </p:nvSpPr>
        <p:spPr>
          <a:xfrm>
            <a:off x="3657600" y="2560320"/>
            <a:ext cx="1828800" cy="0"/>
          </a:xfrm>
          <a:prstGeom prst="line">
            <a:avLst/>
          </a:prstGeom>
          <a:noFill/>
          <a:ln w="25400">
            <a:solidFill>
              <a:srgbClr val="0EA5E9"/>
            </a:solidFill>
            <a:prstDash val="solid"/>
          </a:ln>
        </p:spPr>
      </p:sp>
      <p:sp>
        <p:nvSpPr>
          <p:cNvPr id="4" name="Text 2"/>
          <p:cNvSpPr/>
          <p:nvPr/>
        </p:nvSpPr>
        <p:spPr>
          <a:xfrm>
            <a:off x="1371600" y="2926080"/>
            <a:ext cx="6400800" cy="1097280"/>
          </a:xfrm>
          <a:prstGeom prst="rect">
            <a:avLst/>
          </a:prstGeom>
          <a:noFill/>
          <a:ln/>
        </p:spPr>
        <p:txBody>
          <a:bodyPr wrap="square" lIns="0" tIns="0" rIns="0" bIns="0" rtlCol="0" anchor="ctr"/>
          <a:lstStyle/>
          <a:p>
            <a:pPr algn="ctr" indent="0" marL="0">
              <a:lnSpc>
                <a:spcPct val="140000"/>
              </a:lnSpc>
              <a:buNone/>
            </a:pPr>
            <a:r>
              <a:rPr lang="en-US" sz="1100" dirty="0">
                <a:solidFill>
                  <a:srgbClr val="94A3B8"/>
                </a:solidFill>
                <a:latin typeface="Arial" pitchFamily="34" charset="0"/>
                <a:ea typeface="Arial" pitchFamily="34" charset="-122"/>
                <a:cs typeface="Arial" pitchFamily="34" charset="-120"/>
              </a:rPr>
              <a:t>This document is confidential. It may not be presented to another party without consent from MVNE. Disclosing, copying, distributing or taking any action in relation to the contents of this information is strictly prohibited.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Bitexen Fintech MVNO — Executive Proposal</dc:title>
  <dc:subject>PptxGenJS Presentation</dc:subject>
  <dc:creator>MVNE / Digital Solutions Group</dc:creator>
  <cp:lastModifiedBy>MVNE / Digital Solutions Group</cp:lastModifiedBy>
  <cp:revision>1</cp:revision>
  <dcterms:created xsi:type="dcterms:W3CDTF">2026-04-16T18:10:55Z</dcterms:created>
  <dcterms:modified xsi:type="dcterms:W3CDTF">2026-04-16T18:10:55Z</dcterms:modified>
</cp:coreProperties>
</file>